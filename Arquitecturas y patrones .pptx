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41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646692">
            <a:off x="5088338" y="584574"/>
            <a:ext cx="510376" cy="3495405"/>
          </a:xfrm>
          <a:custGeom>
            <a:avLst/>
            <a:gdLst/>
            <a:ahLst/>
            <a:cxnLst/>
            <a:rect l="l" t="t" r="r" b="b"/>
            <a:pathLst>
              <a:path w="333375" h="1924050">
                <a:moveTo>
                  <a:pt x="333375" y="1924050"/>
                </a:moveTo>
                <a:cubicBezTo>
                  <a:pt x="333375" y="857250"/>
                  <a:pt x="190500" y="285750"/>
                  <a:pt x="0" y="0"/>
                </a:cubicBezTo>
              </a:path>
            </a:pathLst>
          </a:custGeom>
          <a:ln w="28575">
            <a:solidFill>
              <a:srgbClr val="D98A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4438650" y="2019300"/>
            <a:ext cx="1485900" cy="2038350"/>
          </a:xfrm>
          <a:custGeom>
            <a:avLst/>
            <a:gdLst/>
            <a:ahLst/>
            <a:cxnLst/>
            <a:rect l="l" t="t" r="r" b="b"/>
            <a:pathLst>
              <a:path w="228600" h="838200">
                <a:moveTo>
                  <a:pt x="228600" y="838200"/>
                </a:moveTo>
                <a:cubicBezTo>
                  <a:pt x="133350" y="171450"/>
                  <a:pt x="133350" y="28575"/>
                  <a:pt x="0" y="0"/>
                </a:cubicBezTo>
              </a:path>
            </a:pathLst>
          </a:custGeom>
          <a:ln w="285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 rot="15124243">
            <a:off x="4438650" y="3143250"/>
            <a:ext cx="1200150" cy="1009650"/>
          </a:xfrm>
          <a:custGeom>
            <a:avLst/>
            <a:gdLst/>
            <a:ahLst/>
            <a:cxnLst/>
            <a:rect l="l" t="t" r="r" b="b"/>
            <a:pathLst>
              <a:path w="228600" h="190500">
                <a:moveTo>
                  <a:pt x="228600" y="0"/>
                </a:moveTo>
                <a:cubicBezTo>
                  <a:pt x="228600" y="142875"/>
                  <a:pt x="133350" y="190500"/>
                  <a:pt x="0" y="190500"/>
                </a:cubicBezTo>
              </a:path>
            </a:pathLst>
          </a:custGeom>
          <a:ln w="28575">
            <a:solidFill>
              <a:srgbClr val="46C3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438650" y="4401550"/>
            <a:ext cx="1428750" cy="170449"/>
          </a:xfrm>
          <a:custGeom>
            <a:avLst/>
            <a:gdLst/>
            <a:ahLst/>
            <a:cxnLst/>
            <a:rect l="l" t="t" r="r" b="b"/>
            <a:pathLst>
              <a:path w="323850" h="1047750">
                <a:moveTo>
                  <a:pt x="323850" y="0"/>
                </a:moveTo>
                <a:cubicBezTo>
                  <a:pt x="228600" y="571500"/>
                  <a:pt x="133350" y="952500"/>
                  <a:pt x="0" y="1047750"/>
                </a:cubicBezTo>
              </a:path>
            </a:pathLst>
          </a:custGeom>
          <a:ln w="28575">
            <a:solidFill>
              <a:srgbClr val="5AA9F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" name="Shape 4"/>
          <p:cNvSpPr/>
          <p:nvPr/>
        </p:nvSpPr>
        <p:spPr>
          <a:xfrm>
            <a:off x="4667250" y="4724400"/>
            <a:ext cx="1085850" cy="1181100"/>
          </a:xfrm>
          <a:custGeom>
            <a:avLst/>
            <a:gdLst/>
            <a:ahLst/>
            <a:cxnLst/>
            <a:rect l="l" t="t" r="r" b="b"/>
            <a:pathLst>
              <a:path w="1047750" h="1714500">
                <a:moveTo>
                  <a:pt x="1047750" y="0"/>
                </a:moveTo>
                <a:cubicBezTo>
                  <a:pt x="476250" y="762000"/>
                  <a:pt x="95250" y="1524000"/>
                  <a:pt x="0" y="1714500"/>
                </a:cubicBezTo>
              </a:path>
            </a:pathLst>
          </a:custGeom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743450" y="4953000"/>
            <a:ext cx="971550" cy="2381250"/>
          </a:xfrm>
          <a:custGeom>
            <a:avLst/>
            <a:gdLst/>
            <a:ahLst/>
            <a:cxnLst/>
            <a:rect l="l" t="t" r="r" b="b"/>
            <a:pathLst>
              <a:path w="971550" h="2381250">
                <a:moveTo>
                  <a:pt x="971550" y="0"/>
                </a:moveTo>
                <a:cubicBezTo>
                  <a:pt x="590550" y="1143000"/>
                  <a:pt x="209550" y="2095500"/>
                  <a:pt x="0" y="2381250"/>
                </a:cubicBezTo>
              </a:path>
            </a:pathLst>
          </a:custGeom>
          <a:ln w="28575">
            <a:solidFill>
              <a:srgbClr val="4CC3D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295900" y="5334000"/>
            <a:ext cx="609600" cy="3048000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 w="28575">
            <a:solidFill>
              <a:srgbClr val="F06F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048375" y="609600"/>
            <a:ext cx="2667000" cy="3143250"/>
          </a:xfrm>
          <a:custGeom>
            <a:avLst/>
            <a:gdLst/>
            <a:ahLst/>
            <a:cxnLst/>
            <a:rect l="l" t="t" r="r" b="b"/>
            <a:pathLst>
              <a:path w="2667000" h="3143250">
                <a:moveTo>
                  <a:pt x="95250" y="3143250"/>
                </a:moveTo>
                <a:cubicBezTo>
                  <a:pt x="0" y="1809750"/>
                  <a:pt x="190500" y="571500"/>
                  <a:pt x="571500" y="381000"/>
                </a:cubicBezTo>
                <a:cubicBezTo>
                  <a:pt x="1524000" y="0"/>
                  <a:pt x="2095500" y="0"/>
                  <a:pt x="2667000" y="95250"/>
                </a:cubicBezTo>
              </a:path>
            </a:pathLst>
          </a:custGeom>
          <a:ln w="28575">
            <a:solidFill>
              <a:srgbClr val="9B6B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667500" y="219075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1619250"/>
                </a:moveTo>
                <a:cubicBezTo>
                  <a:pt x="190500" y="666750"/>
                  <a:pt x="762000" y="190500"/>
                  <a:pt x="2095500" y="0"/>
                </a:cubicBezTo>
              </a:path>
            </a:pathLst>
          </a:custGeom>
          <a:ln w="28575">
            <a:solidFill>
              <a:srgbClr val="4AA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286750" y="3619500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571500"/>
                </a:moveTo>
                <a:cubicBezTo>
                  <a:pt x="190500" y="190500"/>
                  <a:pt x="285750" y="0"/>
                  <a:pt x="476250" y="0"/>
                </a:cubicBezTo>
              </a:path>
            </a:pathLst>
          </a:custGeom>
          <a:ln w="28575">
            <a:solidFill>
              <a:srgbClr val="33C48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286750" y="4762500"/>
            <a:ext cx="476250" cy="285750"/>
          </a:xfrm>
          <a:custGeom>
            <a:avLst/>
            <a:gdLst/>
            <a:ahLst/>
            <a:cxnLst/>
            <a:rect l="l" t="t" r="r" b="b"/>
            <a:pathLst>
              <a:path w="476250" h="285750">
                <a:moveTo>
                  <a:pt x="0" y="0"/>
                </a:moveTo>
                <a:cubicBezTo>
                  <a:pt x="190500" y="190500"/>
                  <a:pt x="285750" y="285750"/>
                  <a:pt x="476250" y="285750"/>
                </a:cubicBezTo>
              </a:path>
            </a:pathLst>
          </a:custGeom>
          <a:ln w="285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905750" y="55245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cubicBezTo>
                  <a:pt x="285750" y="381000"/>
                  <a:pt x="476250" y="571500"/>
                  <a:pt x="857250" y="857250"/>
                </a:cubicBezTo>
              </a:path>
            </a:pathLst>
          </a:custGeom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429500" y="5619750"/>
            <a:ext cx="1333500" cy="2000250"/>
          </a:xfrm>
          <a:custGeom>
            <a:avLst/>
            <a:gdLst/>
            <a:ahLst/>
            <a:cxnLst/>
            <a:rect l="l" t="t" r="r" b="b"/>
            <a:pathLst>
              <a:path w="1333500" h="2000250">
                <a:moveTo>
                  <a:pt x="0" y="0"/>
                </a:moveTo>
                <a:cubicBezTo>
                  <a:pt x="190500" y="1047750"/>
                  <a:pt x="571500" y="1619250"/>
                  <a:pt x="1333500" y="2000250"/>
                </a:cubicBezTo>
              </a:path>
            </a:pathLst>
          </a:custGeom>
          <a:ln w="28575">
            <a:solidFill>
              <a:srgbClr val="F06F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334250" y="5524500"/>
            <a:ext cx="1428750" cy="3429000"/>
          </a:xfrm>
          <a:custGeom>
            <a:avLst/>
            <a:gdLst/>
            <a:ahLst/>
            <a:cxnLst/>
            <a:rect l="l" t="t" r="r" b="b"/>
            <a:pathLst>
              <a:path w="1428750" h="3429000">
                <a:moveTo>
                  <a:pt x="0" y="0"/>
                </a:moveTo>
                <a:cubicBezTo>
                  <a:pt x="0" y="1714500"/>
                  <a:pt x="571500" y="3048000"/>
                  <a:pt x="1428750" y="3429000"/>
                </a:cubicBezTo>
              </a:path>
            </a:pathLst>
          </a:custGeom>
          <a:ln w="28575">
            <a:solidFill>
              <a:srgbClr val="4AA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arjeta 1"/>
          <p:cNvSpPr/>
          <p:nvPr/>
        </p:nvSpPr>
        <p:spPr>
          <a:xfrm>
            <a:off x="228600" y="152400"/>
            <a:ext cx="4210050" cy="1162050"/>
          </a:xfrm>
          <a:prstGeom prst="roundRect">
            <a:avLst>
              <a:gd name="adj" fmla="val 17311"/>
            </a:avLst>
          </a:prstGeom>
          <a:solidFill>
            <a:srgbClr val="FFF0F6"/>
          </a:solidFill>
          <a:ln w="28575">
            <a:solidFill>
              <a:srgbClr val="F59A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81000" y="228600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63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Arquitectura en capas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81000" y="4953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la aplicación en capas (presentación, lógica de negocio, datos) para que cada parte tenga una responsabilidad.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web con frontend, backend y base de datos.</a:t>
            </a:r>
            <a:endParaRPr lang="en-US" sz="1000" dirty="0"/>
          </a:p>
        </p:txBody>
      </p:sp>
      <p:sp>
        <p:nvSpPr>
          <p:cNvPr id="19" name="Tarjeta 2"/>
          <p:cNvSpPr/>
          <p:nvPr/>
        </p:nvSpPr>
        <p:spPr>
          <a:xfrm>
            <a:off x="228600" y="1447800"/>
            <a:ext cx="4210050" cy="1181100"/>
          </a:xfrm>
          <a:prstGeom prst="roundRect">
            <a:avLst>
              <a:gd name="adj" fmla="val 17032"/>
            </a:avLst>
          </a:prstGeom>
          <a:solidFill>
            <a:srgbClr val="FFF8E1"/>
          </a:solidFill>
          <a:ln w="28575">
            <a:solidFill>
              <a:srgbClr val="F5C8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1000" y="1524000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monolítica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81000" y="179070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sistema está en un solo proyecto y se despliega junto.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simple, pero menos flexible para escalar.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pequeña como un blog.</a:t>
            </a:r>
            <a:endParaRPr lang="en-US" sz="1000" dirty="0"/>
          </a:p>
        </p:txBody>
      </p:sp>
      <p:sp>
        <p:nvSpPr>
          <p:cNvPr id="22" name="Tarjeta 3"/>
          <p:cNvSpPr/>
          <p:nvPr/>
        </p:nvSpPr>
        <p:spPr>
          <a:xfrm>
            <a:off x="228600" y="2743200"/>
            <a:ext cx="4210050" cy="1162050"/>
          </a:xfrm>
          <a:prstGeom prst="roundRect">
            <a:avLst>
              <a:gd name="adj" fmla="val 17311"/>
            </a:avLst>
          </a:prstGeom>
          <a:solidFill>
            <a:srgbClr val="EFFAF1"/>
          </a:solidFill>
          <a:ln w="28575">
            <a:solidFill>
              <a:srgbClr val="5FCF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81000" y="2819400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Arquitectura cliente-servidor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81000" y="3086100"/>
            <a:ext cx="2333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(usuario) solicita información y el servidor la procesa y responde.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centralizar los datos y recursos.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navegador (cliente) que se conecta a un servidor web.</a:t>
            </a:r>
            <a:endParaRPr lang="en-US" sz="1000" dirty="0"/>
          </a:p>
        </p:txBody>
      </p:sp>
      <p:sp>
        <p:nvSpPr>
          <p:cNvPr id="25" name="Tarjeta 4"/>
          <p:cNvSpPr/>
          <p:nvPr/>
        </p:nvSpPr>
        <p:spPr>
          <a:xfrm>
            <a:off x="228600" y="4000500"/>
            <a:ext cx="4210050" cy="1200150"/>
          </a:xfrm>
          <a:prstGeom prst="roundRect">
            <a:avLst>
              <a:gd name="adj" fmla="val 16762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1000" y="4076700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Arquitectura MVC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81000" y="4343400"/>
            <a:ext cx="247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la lógica en 3 partes: modelo, vista y controlador.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mantenimiento y la organización del código.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página web con MVC en frameworks como Spring o Laravel.</a:t>
            </a:r>
            <a:endParaRPr lang="en-US" sz="1000" dirty="0"/>
          </a:p>
        </p:txBody>
      </p:sp>
      <p:sp>
        <p:nvSpPr>
          <p:cNvPr id="28" name="Tarjeta 5"/>
          <p:cNvSpPr/>
          <p:nvPr/>
        </p:nvSpPr>
        <p:spPr>
          <a:xfrm>
            <a:off x="228600" y="5295900"/>
            <a:ext cx="4438650" cy="1352550"/>
          </a:xfrm>
          <a:prstGeom prst="roundRect">
            <a:avLst>
              <a:gd name="adj" fmla="val 14873"/>
            </a:avLst>
          </a:prstGeom>
          <a:solidFill>
            <a:srgbClr val="FDF0FB"/>
          </a:solidFill>
          <a:ln w="28575">
            <a:solidFill>
              <a:srgbClr val="E08A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81000" y="5372100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23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</a:t>
            </a:r>
            <a:r>
              <a:rPr lang="en-US" sz="1350" b="1" dirty="0" err="1">
                <a:solidFill>
                  <a:srgbClr val="A23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81000" y="5638800"/>
            <a:ext cx="2762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la aplicación en servicios pequeños e independientes.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se comunica por APIs.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escalar y actualizar partes sin afectar todo el sistema.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de e-commerce con servicios de usuarios, pedidos y pagos.</a:t>
            </a:r>
            <a:endParaRPr lang="en-US" sz="1000" dirty="0"/>
          </a:p>
        </p:txBody>
      </p:sp>
      <p:sp>
        <p:nvSpPr>
          <p:cNvPr id="31" name="Tarjeta 6"/>
          <p:cNvSpPr/>
          <p:nvPr/>
        </p:nvSpPr>
        <p:spPr>
          <a:xfrm>
            <a:off x="228600" y="6781800"/>
            <a:ext cx="4533900" cy="1200150"/>
          </a:xfrm>
          <a:prstGeom prst="roundRect">
            <a:avLst>
              <a:gd name="adj" fmla="val 16762"/>
            </a:avLst>
          </a:prstGeom>
          <a:solidFill>
            <a:srgbClr val="E8FAFA"/>
          </a:solidFill>
          <a:ln w="28575">
            <a:solidFill>
              <a:srgbClr val="4CC3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81000" y="6858000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Arquitectura orientada a servicios (SOA)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81000" y="7124700"/>
            <a:ext cx="2762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el sistema en servicios reutilizables que se comunican entre sí.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enfoca en la integración entre aplicaciones.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empresas que comparten servicios como facturación o inventario.</a:t>
            </a:r>
            <a:endParaRPr lang="en-US" sz="1000" dirty="0"/>
          </a:p>
        </p:txBody>
      </p:sp>
      <p:sp>
        <p:nvSpPr>
          <p:cNvPr id="34" name="Tarjeta 7"/>
          <p:cNvSpPr/>
          <p:nvPr/>
        </p:nvSpPr>
        <p:spPr>
          <a:xfrm>
            <a:off x="228600" y="8096250"/>
            <a:ext cx="5086350" cy="1333500"/>
          </a:xfrm>
          <a:prstGeom prst="roundRect">
            <a:avLst>
              <a:gd name="adj" fmla="val 15086"/>
            </a:avLst>
          </a:prstGeom>
          <a:solidFill>
            <a:srgbClr val="FFF0F4"/>
          </a:solidFill>
          <a:ln w="28575">
            <a:solidFill>
              <a:srgbClr val="F5799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81000" y="8172450"/>
            <a:ext cx="478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Arquitectura hexagonal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381000" y="8439150"/>
            <a:ext cx="31432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 la lógica de negocio de los detalles externos (base de datos, APIs, interfaz).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las pruebas y el cambio de tecnologías.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API que se conecta a la base de datos a través de un puerto (adapter).</a:t>
            </a:r>
            <a:endParaRPr lang="en-US" sz="1000" dirty="0"/>
          </a:p>
        </p:txBody>
      </p:sp>
      <p:sp>
        <p:nvSpPr>
          <p:cNvPr id="37" name="Tarjeta 8"/>
          <p:cNvSpPr/>
          <p:nvPr/>
        </p:nvSpPr>
        <p:spPr>
          <a:xfrm>
            <a:off x="8763000" y="171450"/>
            <a:ext cx="5676900" cy="1238250"/>
          </a:xfrm>
          <a:prstGeom prst="roundRect">
            <a:avLst>
              <a:gd name="adj" fmla="val 16246"/>
            </a:avLst>
          </a:prstGeom>
          <a:solidFill>
            <a:srgbClr val="F6ECFF"/>
          </a:solidFill>
          <a:ln w="28575">
            <a:solidFill>
              <a:srgbClr val="A77B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915400" y="24765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B3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Singleton y Factory Method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514350"/>
            <a:ext cx="2000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una sola instancia de una clase en todo el sistema.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conexión a la base de datos.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010900" y="514350"/>
            <a:ext cx="2000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Method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objetos sin especificar la clase exacta.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fábrica de formas de pago.</a:t>
            </a:r>
            <a:endParaRPr lang="en-US" sz="1000" dirty="0"/>
          </a:p>
        </p:txBody>
      </p:sp>
      <p:sp>
        <p:nvSpPr>
          <p:cNvPr id="41" name="Tarjeta 9"/>
          <p:cNvSpPr/>
          <p:nvPr/>
        </p:nvSpPr>
        <p:spPr>
          <a:xfrm>
            <a:off x="8763000" y="1562100"/>
            <a:ext cx="5676900" cy="1276350"/>
          </a:xfrm>
          <a:prstGeom prst="roundRect">
            <a:avLst>
              <a:gd name="adj" fmla="val 15761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15400" y="16383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Abstract Factory, Builder y Prototype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915400" y="1905000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familias de objetos relacionados.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interfaz gráfica con tema claro/oscuro.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439400" y="1905000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objetos paso a paso.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crear un auto con varias partes.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963400" y="1905000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 objetos existentes.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duplicar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6" name="Tarjeta 10"/>
          <p:cNvSpPr/>
          <p:nvPr/>
        </p:nvSpPr>
        <p:spPr>
          <a:xfrm>
            <a:off x="8763000" y="2971800"/>
            <a:ext cx="5676900" cy="1276350"/>
          </a:xfrm>
          <a:prstGeom prst="roundRect">
            <a:avLst>
              <a:gd name="adj" fmla="val 15761"/>
            </a:avLst>
          </a:prstGeom>
          <a:solidFill>
            <a:srgbClr val="EFFAF1"/>
          </a:solidFill>
          <a:ln w="28575">
            <a:solidFill>
              <a:srgbClr val="5FCF8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915400" y="30480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Adapter y Facade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915400" y="3314700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que una interfaz incompatible funcione con otra.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cargador de celular para otro tipo de enchufe.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010900" y="3314700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 la interacción con un sistema complejo.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clase que agrupa varias APIs.</a:t>
            </a:r>
            <a:endParaRPr lang="en-US" sz="1000" dirty="0"/>
          </a:p>
        </p:txBody>
      </p:sp>
      <p:sp>
        <p:nvSpPr>
          <p:cNvPr id="50" name="Tarjeta 11"/>
          <p:cNvSpPr/>
          <p:nvPr/>
        </p:nvSpPr>
        <p:spPr>
          <a:xfrm>
            <a:off x="8763000" y="4381500"/>
            <a:ext cx="5676900" cy="1333500"/>
          </a:xfrm>
          <a:prstGeom prst="roundRect">
            <a:avLst>
              <a:gd name="adj" fmla="val 15086"/>
            </a:avLst>
          </a:prstGeom>
          <a:solidFill>
            <a:srgbClr val="FFF8E1"/>
          </a:solidFill>
          <a:ln w="28575">
            <a:solidFill>
              <a:srgbClr val="F5C8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915400" y="44577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Decorator, Proxy y Bridge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915400" y="4724400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modificar la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original.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añadir “extra” a un café.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439400" y="4724400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el acceso a un objeto.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verificar permisos antes de usar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963400" y="4724400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la abstracción de su implementación.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control remoto que funciona con distintos dispositivos.</a:t>
            </a:r>
            <a:endParaRPr lang="en-US" sz="1000" dirty="0"/>
          </a:p>
        </p:txBody>
      </p:sp>
      <p:sp>
        <p:nvSpPr>
          <p:cNvPr id="55" name="Tarjeta 12"/>
          <p:cNvSpPr/>
          <p:nvPr/>
        </p:nvSpPr>
        <p:spPr>
          <a:xfrm>
            <a:off x="8763000" y="5829300"/>
            <a:ext cx="5676900" cy="1162050"/>
          </a:xfrm>
          <a:prstGeom prst="roundRect">
            <a:avLst>
              <a:gd name="adj" fmla="val 17311"/>
            </a:avLst>
          </a:prstGeom>
          <a:solidFill>
            <a:srgbClr val="F6ECFF"/>
          </a:solidFill>
          <a:ln w="28575">
            <a:solidFill>
              <a:srgbClr val="A77B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915400" y="59055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B3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Composite y Flyweight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8915400" y="6172200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 objetos individuales y grupos de forma igual.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carpetas y archivos en un sistema.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1010900" y="6172200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Flyweight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 datos para ahorrar memoria.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muchos árboles con el mismo tipo de hoja.</a:t>
            </a:r>
            <a:endParaRPr lang="en-US" sz="1000" dirty="0"/>
          </a:p>
        </p:txBody>
      </p:sp>
      <p:sp>
        <p:nvSpPr>
          <p:cNvPr id="59" name="Tarjeta 13"/>
          <p:cNvSpPr/>
          <p:nvPr/>
        </p:nvSpPr>
        <p:spPr>
          <a:xfrm>
            <a:off x="8763000" y="7124700"/>
            <a:ext cx="5676900" cy="1123950"/>
          </a:xfrm>
          <a:prstGeom prst="roundRect">
            <a:avLst>
              <a:gd name="adj" fmla="val 17898"/>
            </a:avLst>
          </a:prstGeom>
          <a:solidFill>
            <a:srgbClr val="FFF0F4"/>
          </a:solidFill>
          <a:ln w="28575">
            <a:solidFill>
              <a:srgbClr val="F5799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915400" y="72009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Observer y Mediator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8915400" y="7467600"/>
            <a:ext cx="200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 a varios objetos cuando cambia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botón que actualiza la pantalla.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1010900" y="7467600"/>
            <a:ext cx="200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la comunicación entre objetos.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chat que gestiona los mensajes.</a:t>
            </a:r>
            <a:endParaRPr lang="en-US" sz="1000" dirty="0"/>
          </a:p>
        </p:txBody>
      </p:sp>
      <p:sp>
        <p:nvSpPr>
          <p:cNvPr id="63" name="Tarjeta 14"/>
          <p:cNvSpPr/>
          <p:nvPr/>
        </p:nvSpPr>
        <p:spPr>
          <a:xfrm>
            <a:off x="8763000" y="8362950"/>
            <a:ext cx="5676900" cy="1162050"/>
          </a:xfrm>
          <a:prstGeom prst="roundRect">
            <a:avLst>
              <a:gd name="adj" fmla="val 17311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915400" y="843915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Strategy y State</a:t>
            </a:r>
            <a:endParaRPr lang="en-US" sz="1350" dirty="0"/>
          </a:p>
        </p:txBody>
      </p:sp>
      <p:sp>
        <p:nvSpPr>
          <p:cNvPr id="65" name="Text 63"/>
          <p:cNvSpPr txBox="1"/>
          <p:nvPr/>
        </p:nvSpPr>
        <p:spPr>
          <a:xfrm>
            <a:off x="8915400" y="8705850"/>
            <a:ext cx="2143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cambiar el comportamiento según la necesidad.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diferentes formas de pago.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1153775" y="8705850"/>
            <a:ext cx="2143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comportamiento según el estado del objeto.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pedido (pendiente, enviado, entregado).</a:t>
            </a:r>
            <a:endParaRPr lang="en-US" sz="1000" dirty="0"/>
          </a:p>
        </p:txBody>
      </p:sp>
      <p:sp>
        <p:nvSpPr>
          <p:cNvPr id="67" name="Capa presentación"/>
          <p:cNvSpPr/>
          <p:nvPr/>
        </p:nvSpPr>
        <p:spPr>
          <a:xfrm>
            <a:off x="2667000" y="332290"/>
            <a:ext cx="609600" cy="266700"/>
          </a:xfrm>
          <a:prstGeom prst="diamond">
            <a:avLst/>
          </a:prstGeom>
          <a:solidFill>
            <a:srgbClr val="B38CF5"/>
          </a:solidFill>
          <a:ln w="19050">
            <a:solidFill>
              <a:srgbClr val="7B4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8" name="Capa negocio"/>
          <p:cNvSpPr/>
          <p:nvPr/>
        </p:nvSpPr>
        <p:spPr>
          <a:xfrm>
            <a:off x="2667000" y="484690"/>
            <a:ext cx="609600" cy="266700"/>
          </a:xfrm>
          <a:prstGeom prst="diamond">
            <a:avLst/>
          </a:prstGeom>
          <a:solidFill>
            <a:srgbClr val="6AA3F5"/>
          </a:solidFill>
          <a:ln w="19050">
            <a:solidFill>
              <a:srgbClr val="2F5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9" name="Capa datos"/>
          <p:cNvSpPr/>
          <p:nvPr/>
        </p:nvSpPr>
        <p:spPr>
          <a:xfrm>
            <a:off x="2676525" y="663133"/>
            <a:ext cx="609600" cy="266700"/>
          </a:xfrm>
          <a:prstGeom prst="diamond">
            <a:avLst/>
          </a:prstGeom>
          <a:solidFill>
            <a:srgbClr val="6FD39A"/>
          </a:solidFill>
          <a:ln w="19050">
            <a:solidFill>
              <a:srgbClr val="2F9A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3476625" y="32385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3057525" y="2266950"/>
            <a:ext cx="819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aplicación</a:t>
            </a:r>
            <a:endParaRPr lang="en-US" sz="1050" dirty="0"/>
          </a:p>
        </p:txBody>
      </p:sp>
      <p:sp>
        <p:nvSpPr>
          <p:cNvPr id="73" name="Laptop"/>
          <p:cNvSpPr/>
          <p:nvPr/>
        </p:nvSpPr>
        <p:spPr>
          <a:xfrm>
            <a:off x="2762250" y="3105150"/>
            <a:ext cx="533400" cy="3619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4" name="Base laptop"/>
          <p:cNvSpPr/>
          <p:nvPr/>
        </p:nvSpPr>
        <p:spPr>
          <a:xfrm>
            <a:off x="2705100" y="3486150"/>
            <a:ext cx="647700" cy="57150"/>
          </a:xfrm>
          <a:prstGeom prst="rect">
            <a:avLst/>
          </a:prstGeom>
          <a:solidFill>
            <a:srgbClr val="9DB8E8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5" name="Servidor 1"/>
          <p:cNvSpPr/>
          <p:nvPr/>
        </p:nvSpPr>
        <p:spPr>
          <a:xfrm>
            <a:off x="3733800" y="3067050"/>
            <a:ext cx="381000" cy="1714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6" name="Servidor 2"/>
          <p:cNvSpPr/>
          <p:nvPr/>
        </p:nvSpPr>
        <p:spPr>
          <a:xfrm>
            <a:off x="3733800" y="3276600"/>
            <a:ext cx="381000" cy="1714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7" name="Flecha ida"/>
          <p:cNvSpPr/>
          <p:nvPr/>
        </p:nvSpPr>
        <p:spPr>
          <a:xfrm>
            <a:off x="3333750" y="3143250"/>
            <a:ext cx="361950" cy="114300"/>
          </a:xfrm>
          <a:prstGeom prst="rightArrow">
            <a:avLst/>
          </a:prstGeom>
          <a:solidFill>
            <a:srgbClr val="8AA8E0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8" name="Flecha vuelta"/>
          <p:cNvSpPr/>
          <p:nvPr/>
        </p:nvSpPr>
        <p:spPr>
          <a:xfrm>
            <a:off x="3333750" y="3295650"/>
            <a:ext cx="361950" cy="114300"/>
          </a:xfrm>
          <a:prstGeom prst="leftArrow">
            <a:avLst/>
          </a:prstGeom>
          <a:solidFill>
            <a:srgbClr val="8AA8E0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2743200" y="36004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3695700" y="36004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050" dirty="0"/>
          </a:p>
        </p:txBody>
      </p:sp>
      <p:sp>
        <p:nvSpPr>
          <p:cNvPr id="81" name="Vista"/>
          <p:cNvSpPr/>
          <p:nvPr/>
        </p:nvSpPr>
        <p:spPr>
          <a:xfrm>
            <a:off x="3295650" y="4133850"/>
            <a:ext cx="800100" cy="209550"/>
          </a:xfrm>
          <a:prstGeom prst="roundRect">
            <a:avLst/>
          </a:prstGeom>
          <a:solidFill>
            <a:srgbClr val="BFE0FF"/>
          </a:solidFill>
          <a:ln w="19050">
            <a:solidFill>
              <a:srgbClr val="3B82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</a:t>
            </a:r>
            <a:endParaRPr lang="en-US" sz="1050" dirty="0"/>
          </a:p>
        </p:txBody>
      </p:sp>
      <p:sp>
        <p:nvSpPr>
          <p:cNvPr id="82" name="Controlador"/>
          <p:cNvSpPr/>
          <p:nvPr/>
        </p:nvSpPr>
        <p:spPr>
          <a:xfrm>
            <a:off x="3238500" y="4457700"/>
            <a:ext cx="914400" cy="209550"/>
          </a:xfrm>
          <a:prstGeom prst="roundRect">
            <a:avLst/>
          </a:prstGeom>
          <a:solidFill>
            <a:srgbClr val="D7F5D0"/>
          </a:solidFill>
          <a:ln w="19050">
            <a:solidFill>
              <a:srgbClr val="3B9A3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</a:t>
            </a:r>
            <a:endParaRPr lang="en-US" sz="1050" dirty="0"/>
          </a:p>
        </p:txBody>
      </p:sp>
      <p:sp>
        <p:nvSpPr>
          <p:cNvPr id="83" name="Modelo"/>
          <p:cNvSpPr/>
          <p:nvPr/>
        </p:nvSpPr>
        <p:spPr>
          <a:xfrm>
            <a:off x="3295650" y="4781550"/>
            <a:ext cx="800100" cy="209550"/>
          </a:xfrm>
          <a:prstGeom prst="roundRect">
            <a:avLst/>
          </a:prstGeom>
          <a:solidFill>
            <a:srgbClr val="A8EC6E"/>
          </a:solidFill>
          <a:ln w="19050">
            <a:solidFill>
              <a:srgbClr val="3B9A3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050" dirty="0"/>
          </a:p>
        </p:txBody>
      </p:sp>
      <p:sp>
        <p:nvSpPr>
          <p:cNvPr id="87" name="Nube servicios"/>
          <p:cNvSpPr/>
          <p:nvPr/>
        </p:nvSpPr>
        <p:spPr>
          <a:xfrm>
            <a:off x="3600450" y="7086600"/>
            <a:ext cx="1047750" cy="609600"/>
          </a:xfrm>
          <a:prstGeom prst="cloud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050" dirty="0"/>
          </a:p>
        </p:txBody>
      </p:sp>
      <p:sp>
        <p:nvSpPr>
          <p:cNvPr id="88" name="Servicio 1"/>
          <p:cNvSpPr/>
          <p:nvPr/>
        </p:nvSpPr>
        <p:spPr>
          <a:xfrm>
            <a:off x="3530135" y="7791450"/>
            <a:ext cx="152400" cy="152400"/>
          </a:xfrm>
          <a:prstGeom prst="rect">
            <a:avLst/>
          </a:prstGeom>
          <a:solidFill>
            <a:srgbClr val="9AE6B4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9" name="Servicio 2"/>
          <p:cNvSpPr/>
          <p:nvPr/>
        </p:nvSpPr>
        <p:spPr>
          <a:xfrm>
            <a:off x="3848100" y="7800975"/>
            <a:ext cx="152400" cy="152400"/>
          </a:xfrm>
          <a:prstGeom prst="rect">
            <a:avLst/>
          </a:prstGeom>
          <a:solidFill>
            <a:srgbClr val="FFE08A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0" name="Servicio 3"/>
          <p:cNvSpPr/>
          <p:nvPr/>
        </p:nvSpPr>
        <p:spPr>
          <a:xfrm>
            <a:off x="4186237" y="7804785"/>
            <a:ext cx="152400" cy="152400"/>
          </a:xfrm>
          <a:prstGeom prst="rect">
            <a:avLst/>
          </a:prstGeom>
          <a:solidFill>
            <a:srgbClr val="C9C9D6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1" name="Servicio 4"/>
          <p:cNvSpPr/>
          <p:nvPr/>
        </p:nvSpPr>
        <p:spPr>
          <a:xfrm>
            <a:off x="4497705" y="7791450"/>
            <a:ext cx="152400" cy="152400"/>
          </a:xfrm>
          <a:prstGeom prst="rect">
            <a:avLst/>
          </a:prstGeom>
          <a:solidFill>
            <a:srgbClr val="E3B5F5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4027551" y="8258175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Adaptadores</a:t>
            </a:r>
            <a:endParaRPr lang="en-US" sz="1100" dirty="0"/>
          </a:p>
        </p:txBody>
      </p:sp>
      <p:sp>
        <p:nvSpPr>
          <p:cNvPr id="93" name="Hexágono negocio"/>
          <p:cNvSpPr/>
          <p:nvPr/>
        </p:nvSpPr>
        <p:spPr>
          <a:xfrm>
            <a:off x="3987165" y="8496300"/>
            <a:ext cx="857250" cy="742950"/>
          </a:xfrm>
          <a:prstGeom prst="hexagon">
            <a:avLst/>
          </a:prstGeom>
          <a:solidFill>
            <a:srgbClr val="B9A6F5"/>
          </a:solidFill>
          <a:ln w="19050">
            <a:solidFill>
              <a:srgbClr val="5A3F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3486150" y="8820150"/>
            <a:ext cx="419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4991100" y="8820150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900" dirty="0"/>
          </a:p>
        </p:txBody>
      </p:sp>
      <p:sp>
        <p:nvSpPr>
          <p:cNvPr id="111" name="Nube pequeña"/>
          <p:cNvSpPr/>
          <p:nvPr/>
        </p:nvSpPr>
        <p:spPr>
          <a:xfrm>
            <a:off x="4438650" y="420201"/>
            <a:ext cx="2095500" cy="812066"/>
          </a:xfrm>
          <a:prstGeom prst="cloud">
            <a:avLst/>
          </a:prstGeom>
          <a:solidFill>
            <a:srgbClr val="E6DCFF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Arquitecturas de software</a:t>
            </a:r>
            <a:endParaRPr lang="en-US" sz="1200" dirty="0"/>
          </a:p>
        </p:txBody>
      </p:sp>
      <p:sp>
        <p:nvSpPr>
          <p:cNvPr id="112" name="Nube central"/>
          <p:cNvSpPr/>
          <p:nvPr/>
        </p:nvSpPr>
        <p:spPr>
          <a:xfrm>
            <a:off x="5581650" y="3733800"/>
            <a:ext cx="2762250" cy="1809750"/>
          </a:xfrm>
          <a:prstGeom prst="cloud">
            <a:avLst/>
          </a:prstGeom>
          <a:solidFill>
            <a:srgbClr val="F2DCFF"/>
          </a:solidFill>
          <a:ln w="19050">
            <a:solidFill>
              <a:srgbClr val="D98A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Arquitecturas de software y patrones de </a:t>
            </a:r>
            <a:r>
              <a:rPr lang="en-US" sz="1800" b="1" dirty="0" err="1">
                <a:solidFill>
                  <a:srgbClr val="2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800" dirty="0"/>
          </a:p>
        </p:txBody>
      </p:sp>
      <p:pic>
        <p:nvPicPr>
          <p:cNvPr id="116" name="Imagen 115" descr="square shape 3d icon illustration 22187207 PNG">
            <a:extLst>
              <a:ext uri="{FF2B5EF4-FFF2-40B4-BE49-F238E27FC236}">
                <a16:creationId xmlns:a16="http://schemas.microsoft.com/office/drawing/2014/main" id="{90934505-04B8-8545-F1E4-FFC09A5B8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61" y="1533525"/>
            <a:ext cx="766762" cy="766762"/>
          </a:xfrm>
          <a:prstGeom prst="rect">
            <a:avLst/>
          </a:prstGeom>
        </p:spPr>
      </p:pic>
      <p:pic>
        <p:nvPicPr>
          <p:cNvPr id="118" name="Imagen 117" descr="3d Square Box">
            <a:extLst>
              <a:ext uri="{FF2B5EF4-FFF2-40B4-BE49-F238E27FC236}">
                <a16:creationId xmlns:a16="http://schemas.microsoft.com/office/drawing/2014/main" id="{48BB0965-2075-CDF9-90D9-4E6C07E26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607" y="5986150"/>
            <a:ext cx="544835" cy="528325"/>
          </a:xfrm>
          <a:prstGeom prst="rect">
            <a:avLst/>
          </a:prstGeom>
        </p:spPr>
      </p:pic>
      <p:pic>
        <p:nvPicPr>
          <p:cNvPr id="119" name="Imagen 118" descr="cubo morado 3d. 17193863 PNG">
            <a:extLst>
              <a:ext uri="{FF2B5EF4-FFF2-40B4-BE49-F238E27FC236}">
                <a16:creationId xmlns:a16="http://schemas.microsoft.com/office/drawing/2014/main" id="{5D08987F-43DC-71E5-F8F8-71E23BC8D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061450" y="6029325"/>
            <a:ext cx="421232" cy="407014"/>
          </a:xfrm>
          <a:prstGeom prst="rect">
            <a:avLst/>
          </a:prstGeom>
        </p:spPr>
      </p:pic>
      <p:pic>
        <p:nvPicPr>
          <p:cNvPr id="121" name="Imagen 120" descr="square shape 3d icon illustration 22187207 PNG">
            <a:extLst>
              <a:ext uri="{FF2B5EF4-FFF2-40B4-BE49-F238E27FC236}">
                <a16:creationId xmlns:a16="http://schemas.microsoft.com/office/drawing/2014/main" id="{531577D6-CFA0-C430-9DBA-C49C40A74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796" y="5308353"/>
            <a:ext cx="597148" cy="597148"/>
          </a:xfrm>
          <a:prstGeom prst="rect">
            <a:avLst/>
          </a:prstGeom>
        </p:spPr>
      </p:pic>
      <p:pic>
        <p:nvPicPr>
          <p:cNvPr id="122" name="Imagen 121" descr="Página 2 | Flecha Curva PNG para descargar gratis">
            <a:extLst>
              <a:ext uri="{FF2B5EF4-FFF2-40B4-BE49-F238E27FC236}">
                <a16:creationId xmlns:a16="http://schemas.microsoft.com/office/drawing/2014/main" id="{4F8A612F-E365-22E2-86BF-9EB2EE1B4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98144" flipH="1">
            <a:off x="3439789" y="5744838"/>
            <a:ext cx="292445" cy="292445"/>
          </a:xfrm>
          <a:prstGeom prst="rect">
            <a:avLst/>
          </a:prstGeom>
        </p:spPr>
      </p:pic>
      <p:pic>
        <p:nvPicPr>
          <p:cNvPr id="126" name="Imagen 125" descr="Página 2 | Flecha Curva PNG para descargar gratis">
            <a:extLst>
              <a:ext uri="{FF2B5EF4-FFF2-40B4-BE49-F238E27FC236}">
                <a16:creationId xmlns:a16="http://schemas.microsoft.com/office/drawing/2014/main" id="{6132BBE7-0837-2E5E-247A-605D9FF14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3953038" y="5754760"/>
            <a:ext cx="319028" cy="319028"/>
          </a:xfrm>
          <a:prstGeom prst="rect">
            <a:avLst/>
          </a:prstGeom>
        </p:spPr>
      </p:pic>
      <p:pic>
        <p:nvPicPr>
          <p:cNvPr id="128" name="Imagen 127" descr="Página 2 | Flecha Curva PNG para descargar gratis">
            <a:extLst>
              <a:ext uri="{FF2B5EF4-FFF2-40B4-BE49-F238E27FC236}">
                <a16:creationId xmlns:a16="http://schemas.microsoft.com/office/drawing/2014/main" id="{F048946C-E10B-83EE-022D-F54BB9C96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04953" flipH="1">
            <a:off x="3737597" y="6122183"/>
            <a:ext cx="292445" cy="292445"/>
          </a:xfrm>
          <a:prstGeom prst="rect">
            <a:avLst/>
          </a:prstGeom>
        </p:spPr>
      </p:pic>
      <p:pic>
        <p:nvPicPr>
          <p:cNvPr id="130" name="Imagen 129" descr="Página 2 | Flecha Curva PNG para descargar gratis">
            <a:extLst>
              <a:ext uri="{FF2B5EF4-FFF2-40B4-BE49-F238E27FC236}">
                <a16:creationId xmlns:a16="http://schemas.microsoft.com/office/drawing/2014/main" id="{6891B73D-3B65-B136-BEB7-081187115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7163" flipV="1">
            <a:off x="3703715" y="6132945"/>
            <a:ext cx="292352" cy="292352"/>
          </a:xfrm>
          <a:prstGeom prst="rect">
            <a:avLst/>
          </a:prstGeom>
        </p:spPr>
      </p:pic>
      <p:pic>
        <p:nvPicPr>
          <p:cNvPr id="131" name="Imagen 130" descr="Flechas Curvas PNG para descargar gratis">
            <a:extLst>
              <a:ext uri="{FF2B5EF4-FFF2-40B4-BE49-F238E27FC236}">
                <a16:creationId xmlns:a16="http://schemas.microsoft.com/office/drawing/2014/main" id="{E32E9D8D-B2C2-EDF9-8BCA-3DAC66E8F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48197" flipV="1">
            <a:off x="3584397" y="7599905"/>
            <a:ext cx="126644" cy="126644"/>
          </a:xfrm>
          <a:prstGeom prst="rect">
            <a:avLst/>
          </a:prstGeom>
        </p:spPr>
      </p:pic>
      <p:pic>
        <p:nvPicPr>
          <p:cNvPr id="135" name="Imagen 134" descr="Flechas Curvas PNG para descargar gratis">
            <a:extLst>
              <a:ext uri="{FF2B5EF4-FFF2-40B4-BE49-F238E27FC236}">
                <a16:creationId xmlns:a16="http://schemas.microsoft.com/office/drawing/2014/main" id="{189D9E0A-9348-DD49-D93F-AB4A95F8C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48197" flipV="1">
            <a:off x="3866104" y="7657054"/>
            <a:ext cx="126644" cy="126644"/>
          </a:xfrm>
          <a:prstGeom prst="rect">
            <a:avLst/>
          </a:prstGeom>
        </p:spPr>
      </p:pic>
      <p:pic>
        <p:nvPicPr>
          <p:cNvPr id="137" name="Imagen 136" descr="Flechas Curvas PNG para descargar gratis">
            <a:extLst>
              <a:ext uri="{FF2B5EF4-FFF2-40B4-BE49-F238E27FC236}">
                <a16:creationId xmlns:a16="http://schemas.microsoft.com/office/drawing/2014/main" id="{9DC19141-824E-A7FA-D659-7F31AEBD0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778050">
            <a:off x="4214086" y="7658135"/>
            <a:ext cx="144327" cy="144327"/>
          </a:xfrm>
          <a:prstGeom prst="rect">
            <a:avLst/>
          </a:prstGeom>
        </p:spPr>
      </p:pic>
      <p:pic>
        <p:nvPicPr>
          <p:cNvPr id="141" name="Imagen 140" descr="Flechas Curvas PNG para descargar gratis">
            <a:extLst>
              <a:ext uri="{FF2B5EF4-FFF2-40B4-BE49-F238E27FC236}">
                <a16:creationId xmlns:a16="http://schemas.microsoft.com/office/drawing/2014/main" id="{3B738FBF-0E49-D599-84CC-727585B21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778050">
            <a:off x="4458289" y="7614511"/>
            <a:ext cx="144327" cy="144327"/>
          </a:xfrm>
          <a:prstGeom prst="rect">
            <a:avLst/>
          </a:prstGeom>
        </p:spPr>
      </p:pic>
      <p:pic>
        <p:nvPicPr>
          <p:cNvPr id="143" name="Imagen 142" descr="Flechas Curvas PNG para descargar gratis">
            <a:extLst>
              <a:ext uri="{FF2B5EF4-FFF2-40B4-BE49-F238E27FC236}">
                <a16:creationId xmlns:a16="http://schemas.microsoft.com/office/drawing/2014/main" id="{FF057925-6F14-2E24-64BB-13C6CFA42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47430">
            <a:off x="4824911" y="8837444"/>
            <a:ext cx="144327" cy="144327"/>
          </a:xfrm>
          <a:prstGeom prst="rect">
            <a:avLst/>
          </a:prstGeom>
        </p:spPr>
      </p:pic>
      <p:pic>
        <p:nvPicPr>
          <p:cNvPr id="145" name="Imagen 144" descr="Flechas Curvas PNG para descargar gratis">
            <a:extLst>
              <a:ext uri="{FF2B5EF4-FFF2-40B4-BE49-F238E27FC236}">
                <a16:creationId xmlns:a16="http://schemas.microsoft.com/office/drawing/2014/main" id="{FBF670D3-281E-488E-22BE-4197D22A8D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677572">
            <a:off x="4358666" y="8500513"/>
            <a:ext cx="144327" cy="144327"/>
          </a:xfrm>
          <a:prstGeom prst="rect">
            <a:avLst/>
          </a:prstGeom>
        </p:spPr>
      </p:pic>
      <p:pic>
        <p:nvPicPr>
          <p:cNvPr id="147" name="Imagen 146" descr="Flechas Curvas PNG para descargar gratis">
            <a:extLst>
              <a:ext uri="{FF2B5EF4-FFF2-40B4-BE49-F238E27FC236}">
                <a16:creationId xmlns:a16="http://schemas.microsoft.com/office/drawing/2014/main" id="{D9B73A73-42C9-B21B-E494-0550B17F1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120000">
            <a:off x="4399784" y="8420684"/>
            <a:ext cx="102040" cy="102040"/>
          </a:xfrm>
          <a:prstGeom prst="rect">
            <a:avLst/>
          </a:prstGeom>
        </p:spPr>
      </p:pic>
      <p:pic>
        <p:nvPicPr>
          <p:cNvPr id="149" name="Imagen 148" descr="Flechas Curvas PNG para descargar gratis">
            <a:extLst>
              <a:ext uri="{FF2B5EF4-FFF2-40B4-BE49-F238E27FC236}">
                <a16:creationId xmlns:a16="http://schemas.microsoft.com/office/drawing/2014/main" id="{7D9246E9-77B4-ADF7-B8EC-BE2008350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112915">
            <a:off x="3899830" y="8786086"/>
            <a:ext cx="144327" cy="144327"/>
          </a:xfrm>
          <a:prstGeom prst="rect">
            <a:avLst/>
          </a:prstGeom>
        </p:spPr>
      </p:pic>
      <p:pic>
        <p:nvPicPr>
          <p:cNvPr id="150" name="Imagen 149" descr="Almacenamiento de archivos - Iconos gratis de archivos y carpetas">
            <a:extLst>
              <a:ext uri="{FF2B5EF4-FFF2-40B4-BE49-F238E27FC236}">
                <a16:creationId xmlns:a16="http://schemas.microsoft.com/office/drawing/2014/main" id="{653D92E0-83AC-39C3-72AA-49CD5E0EEC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82625" y="1690507"/>
            <a:ext cx="561975" cy="561975"/>
          </a:xfrm>
          <a:prstGeom prst="rect">
            <a:avLst/>
          </a:prstGeom>
        </p:spPr>
      </p:pic>
      <p:pic>
        <p:nvPicPr>
          <p:cNvPr id="151" name="Imagen 150" descr="Archivos - Iconos gratis de archivos y carpetas">
            <a:extLst>
              <a:ext uri="{FF2B5EF4-FFF2-40B4-BE49-F238E27FC236}">
                <a16:creationId xmlns:a16="http://schemas.microsoft.com/office/drawing/2014/main" id="{BA142FFD-28DA-6001-6C2F-D1753364EC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5532" y="2133600"/>
            <a:ext cx="533822" cy="533822"/>
          </a:xfrm>
          <a:prstGeom prst="rect">
            <a:avLst/>
          </a:prstGeom>
        </p:spPr>
      </p:pic>
      <p:pic>
        <p:nvPicPr>
          <p:cNvPr id="152" name="Imagen 151" descr="Icono de Enchufe Generic color lineal-color">
            <a:extLst>
              <a:ext uri="{FF2B5EF4-FFF2-40B4-BE49-F238E27FC236}">
                <a16:creationId xmlns:a16="http://schemas.microsoft.com/office/drawing/2014/main" id="{2A6309FB-99E9-64EE-7743-01DDBAEBCF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4505" y="3077660"/>
            <a:ext cx="836239" cy="836239"/>
          </a:xfrm>
          <a:prstGeom prst="rect">
            <a:avLst/>
          </a:prstGeom>
        </p:spPr>
      </p:pic>
      <p:pic>
        <p:nvPicPr>
          <p:cNvPr id="153" name="Imagen 152" descr="Empresa - Iconos gratis de negocio">
            <a:extLst>
              <a:ext uri="{FF2B5EF4-FFF2-40B4-BE49-F238E27FC236}">
                <a16:creationId xmlns:a16="http://schemas.microsoft.com/office/drawing/2014/main" id="{4BF13F22-16AF-9603-59C7-DBE451370F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67394" y="3448050"/>
            <a:ext cx="720106" cy="720106"/>
          </a:xfrm>
          <a:prstGeom prst="rect">
            <a:avLst/>
          </a:prstGeom>
        </p:spPr>
      </p:pic>
      <p:pic>
        <p:nvPicPr>
          <p:cNvPr id="154" name="Imagen 153" descr="Icono De Pincel Png">
            <a:extLst>
              <a:ext uri="{FF2B5EF4-FFF2-40B4-BE49-F238E27FC236}">
                <a16:creationId xmlns:a16="http://schemas.microsoft.com/office/drawing/2014/main" id="{E023223D-B79F-D3BB-66FC-702E35CF72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649860">
            <a:off x="13383541" y="4417672"/>
            <a:ext cx="754934" cy="754934"/>
          </a:xfrm>
          <a:prstGeom prst="rect">
            <a:avLst/>
          </a:prstGeom>
        </p:spPr>
      </p:pic>
      <p:pic>
        <p:nvPicPr>
          <p:cNvPr id="155" name="Imagen 154" descr="Escudo de seguridad - Iconos gratis de seguridad">
            <a:extLst>
              <a:ext uri="{FF2B5EF4-FFF2-40B4-BE49-F238E27FC236}">
                <a16:creationId xmlns:a16="http://schemas.microsoft.com/office/drawing/2014/main" id="{9A14B01F-D95D-78A7-4365-8ABACB74D9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7900" y="4948177"/>
            <a:ext cx="658268" cy="658268"/>
          </a:xfrm>
          <a:prstGeom prst="rect">
            <a:avLst/>
          </a:prstGeom>
        </p:spPr>
      </p:pic>
      <p:pic>
        <p:nvPicPr>
          <p:cNvPr id="157" name="Imagen 156" descr="Árboles - Iconos gratis de naturaleza">
            <a:extLst>
              <a:ext uri="{FF2B5EF4-FFF2-40B4-BE49-F238E27FC236}">
                <a16:creationId xmlns:a16="http://schemas.microsoft.com/office/drawing/2014/main" id="{16116E20-C010-4A22-2F38-F6E68F68C9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47012" y="5986150"/>
            <a:ext cx="871850" cy="871850"/>
          </a:xfrm>
          <a:prstGeom prst="rect">
            <a:avLst/>
          </a:prstGeom>
        </p:spPr>
      </p:pic>
      <p:pic>
        <p:nvPicPr>
          <p:cNvPr id="158" name="Imagen 157" descr="Notification - Free ui icons">
            <a:extLst>
              <a:ext uri="{FF2B5EF4-FFF2-40B4-BE49-F238E27FC236}">
                <a16:creationId xmlns:a16="http://schemas.microsoft.com/office/drawing/2014/main" id="{92DAB1B6-C317-5E11-6D4A-C18E579B7A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11150" y="7182694"/>
            <a:ext cx="709311" cy="709311"/>
          </a:xfrm>
          <a:prstGeom prst="rect">
            <a:avLst/>
          </a:prstGeom>
        </p:spPr>
      </p:pic>
      <p:pic>
        <p:nvPicPr>
          <p:cNvPr id="159" name="Imagen 158" descr="Mensajes - Iconos gratis de web">
            <a:extLst>
              <a:ext uri="{FF2B5EF4-FFF2-40B4-BE49-F238E27FC236}">
                <a16:creationId xmlns:a16="http://schemas.microsoft.com/office/drawing/2014/main" id="{68F6DE75-C955-D834-C636-7A4B0ECDD2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73921" y="7565873"/>
            <a:ext cx="613811" cy="613811"/>
          </a:xfrm>
          <a:prstGeom prst="rect">
            <a:avLst/>
          </a:prstGeom>
        </p:spPr>
      </p:pic>
      <p:pic>
        <p:nvPicPr>
          <p:cNvPr id="160" name="Imagen 159" descr="Ajustes - Iconos gratis de herramientas y utensilios">
            <a:extLst>
              <a:ext uri="{FF2B5EF4-FFF2-40B4-BE49-F238E27FC236}">
                <a16:creationId xmlns:a16="http://schemas.microsoft.com/office/drawing/2014/main" id="{9517EDD5-B54E-0048-AAF0-E3785B0EB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47012" y="8420100"/>
            <a:ext cx="685800" cy="685800"/>
          </a:xfrm>
          <a:prstGeom prst="rect">
            <a:avLst/>
          </a:prstGeom>
        </p:spPr>
      </p:pic>
      <p:pic>
        <p:nvPicPr>
          <p:cNvPr id="161" name="Imagen 160" descr="Repetir - Iconos gratis de flechas">
            <a:extLst>
              <a:ext uri="{FF2B5EF4-FFF2-40B4-BE49-F238E27FC236}">
                <a16:creationId xmlns:a16="http://schemas.microsoft.com/office/drawing/2014/main" id="{1B90C990-858C-2867-4633-D3FC43B0BCF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13772185" y="8855640"/>
            <a:ext cx="620168" cy="620168"/>
          </a:xfrm>
          <a:prstGeom prst="rect">
            <a:avLst/>
          </a:prstGeom>
        </p:spPr>
      </p:pic>
      <p:pic>
        <p:nvPicPr>
          <p:cNvPr id="162" name="Imagen 161" descr="Ajustes Configuración Icono - Gráficos vectoriales gratis en Pixabay ...">
            <a:extLst>
              <a:ext uri="{FF2B5EF4-FFF2-40B4-BE49-F238E27FC236}">
                <a16:creationId xmlns:a16="http://schemas.microsoft.com/office/drawing/2014/main" id="{2AE9E3A8-5E03-0162-D796-42044CBD17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163550" y="386564"/>
            <a:ext cx="1037744" cy="861814"/>
          </a:xfrm>
          <a:prstGeom prst="rect">
            <a:avLst/>
          </a:prstGeom>
        </p:spPr>
      </p:pic>
      <p:sp>
        <p:nvSpPr>
          <p:cNvPr id="164" name="Nube pequeña">
            <a:extLst>
              <a:ext uri="{FF2B5EF4-FFF2-40B4-BE49-F238E27FC236}">
                <a16:creationId xmlns:a16="http://schemas.microsoft.com/office/drawing/2014/main" id="{01109462-EC5F-DCB1-1EDF-A49BE2F05B3E}"/>
              </a:ext>
            </a:extLst>
          </p:cNvPr>
          <p:cNvSpPr/>
          <p:nvPr/>
        </p:nvSpPr>
        <p:spPr>
          <a:xfrm>
            <a:off x="6832738" y="8082170"/>
            <a:ext cx="1809750" cy="1047750"/>
          </a:xfrm>
          <a:prstGeom prst="cloud">
            <a:avLst/>
          </a:prstGeom>
          <a:solidFill>
            <a:srgbClr val="E6DCFF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Patrones</a:t>
            </a:r>
            <a:r>
              <a:rPr lang="en-US" sz="1200" b="1" dirty="0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 de </a:t>
            </a:r>
            <a:r>
              <a:rPr lang="en-US" sz="1200" b="1" dirty="0" err="1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diseño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658</Words>
  <Application>Microsoft Office PowerPoint</Application>
  <PresentationFormat>Personalizado</PresentationFormat>
  <Paragraphs>101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Arquitecturas de software y patrones de diseño</dc:title>
  <dc:subject>PptxGenJS Presentation</dc:subject>
  <dc:creator>PptxGenJS</dc:creator>
  <cp:lastModifiedBy>MARIANA ALEJANDRA MARTINEZ DUARTE</cp:lastModifiedBy>
  <cp:revision>2</cp:revision>
  <dcterms:created xsi:type="dcterms:W3CDTF">2026-10-18T03:14:05Z</dcterms:created>
  <dcterms:modified xsi:type="dcterms:W3CDTF">2026-10-18T03:43:25Z</dcterms:modified>
</cp:coreProperties>
</file>