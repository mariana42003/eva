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3"/>
  </p:notesMasterIdLst>
  <p:sldIdLst>
    <p:sldId id="256" r:id="rId2"/>
  </p:sldIdLst>
  <p:sldSz cx="14630400" cy="14433550"/>
  <p:notesSz cx="9753600" cy="14630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338" y="-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4410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2362158"/>
            <a:ext cx="12435840" cy="5025014"/>
          </a:xfrm>
        </p:spPr>
        <p:txBody>
          <a:bodyPr anchor="b"/>
          <a:lstStyle>
            <a:lvl1pPr algn="ctr">
              <a:defRPr sz="9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7580956"/>
            <a:ext cx="10972800" cy="3484766"/>
          </a:xfrm>
        </p:spPr>
        <p:txBody>
          <a:bodyPr/>
          <a:lstStyle>
            <a:lvl1pPr marL="0" indent="0" algn="ctr">
              <a:buNone/>
              <a:defRPr sz="3840"/>
            </a:lvl1pPr>
            <a:lvl2pPr marL="731520" indent="0" algn="ctr">
              <a:buNone/>
              <a:defRPr sz="3200"/>
            </a:lvl2pPr>
            <a:lvl3pPr marL="1463040" indent="0" algn="ctr">
              <a:buNone/>
              <a:defRPr sz="2880"/>
            </a:lvl3pPr>
            <a:lvl4pPr marL="2194560" indent="0" algn="ctr">
              <a:buNone/>
              <a:defRPr sz="2560"/>
            </a:lvl4pPr>
            <a:lvl5pPr marL="2926080" indent="0" algn="ctr">
              <a:buNone/>
              <a:defRPr sz="2560"/>
            </a:lvl5pPr>
            <a:lvl6pPr marL="3657600" indent="0" algn="ctr">
              <a:buNone/>
              <a:defRPr sz="2560"/>
            </a:lvl6pPr>
            <a:lvl7pPr marL="4389120" indent="0" algn="ctr">
              <a:buNone/>
              <a:defRPr sz="2560"/>
            </a:lvl7pPr>
            <a:lvl8pPr marL="5120640" indent="0" algn="ctr">
              <a:buNone/>
              <a:defRPr sz="2560"/>
            </a:lvl8pPr>
            <a:lvl9pPr marL="5852160" indent="0" algn="ctr">
              <a:buNone/>
              <a:defRPr sz="256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15501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83372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1" y="3598368"/>
            <a:ext cx="12618720" cy="6003955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1" y="9659123"/>
            <a:ext cx="12618720" cy="3157338"/>
          </a:xfrm>
        </p:spPr>
        <p:txBody>
          <a:bodyPr/>
          <a:lstStyle>
            <a:lvl1pPr marL="0" indent="0">
              <a:buNone/>
              <a:defRPr sz="3840">
                <a:solidFill>
                  <a:schemeClr val="tx1"/>
                </a:solidFill>
              </a:defRPr>
            </a:lvl1pPr>
            <a:lvl2pPr marL="73152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46304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3pPr>
            <a:lvl4pPr marL="219456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4pPr>
            <a:lvl5pPr marL="292608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5pPr>
            <a:lvl6pPr marL="365760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6pPr>
            <a:lvl7pPr marL="438912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7pPr>
            <a:lvl8pPr marL="512064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8pPr>
            <a:lvl9pPr marL="585216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58310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3842264"/>
            <a:ext cx="6217920" cy="9157955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3842264"/>
            <a:ext cx="6217920" cy="9157955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78578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768456"/>
            <a:ext cx="12618720" cy="2789819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7" y="3538225"/>
            <a:ext cx="6189344" cy="1734030"/>
          </a:xfrm>
        </p:spPr>
        <p:txBody>
          <a:bodyPr anchor="b"/>
          <a:lstStyle>
            <a:lvl1pPr marL="0" indent="0">
              <a:buNone/>
              <a:defRPr sz="3840" b="1"/>
            </a:lvl1pPr>
            <a:lvl2pPr marL="731520" indent="0">
              <a:buNone/>
              <a:defRPr sz="3200" b="1"/>
            </a:lvl2pPr>
            <a:lvl3pPr marL="1463040" indent="0">
              <a:buNone/>
              <a:defRPr sz="2880" b="1"/>
            </a:lvl3pPr>
            <a:lvl4pPr marL="2194560" indent="0">
              <a:buNone/>
              <a:defRPr sz="2560" b="1"/>
            </a:lvl4pPr>
            <a:lvl5pPr marL="2926080" indent="0">
              <a:buNone/>
              <a:defRPr sz="2560" b="1"/>
            </a:lvl5pPr>
            <a:lvl6pPr marL="3657600" indent="0">
              <a:buNone/>
              <a:defRPr sz="2560" b="1"/>
            </a:lvl6pPr>
            <a:lvl7pPr marL="4389120" indent="0">
              <a:buNone/>
              <a:defRPr sz="2560" b="1"/>
            </a:lvl7pPr>
            <a:lvl8pPr marL="5120640" indent="0">
              <a:buNone/>
              <a:defRPr sz="2560" b="1"/>
            </a:lvl8pPr>
            <a:lvl9pPr marL="5852160" indent="0">
              <a:buNone/>
              <a:defRPr sz="256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7" y="5272255"/>
            <a:ext cx="6189344" cy="775469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1" y="3538225"/>
            <a:ext cx="6219826" cy="1734030"/>
          </a:xfrm>
        </p:spPr>
        <p:txBody>
          <a:bodyPr anchor="b"/>
          <a:lstStyle>
            <a:lvl1pPr marL="0" indent="0">
              <a:buNone/>
              <a:defRPr sz="3840" b="1"/>
            </a:lvl1pPr>
            <a:lvl2pPr marL="731520" indent="0">
              <a:buNone/>
              <a:defRPr sz="3200" b="1"/>
            </a:lvl2pPr>
            <a:lvl3pPr marL="1463040" indent="0">
              <a:buNone/>
              <a:defRPr sz="2880" b="1"/>
            </a:lvl3pPr>
            <a:lvl4pPr marL="2194560" indent="0">
              <a:buNone/>
              <a:defRPr sz="2560" b="1"/>
            </a:lvl4pPr>
            <a:lvl5pPr marL="2926080" indent="0">
              <a:buNone/>
              <a:defRPr sz="2560" b="1"/>
            </a:lvl5pPr>
            <a:lvl6pPr marL="3657600" indent="0">
              <a:buNone/>
              <a:defRPr sz="2560" b="1"/>
            </a:lvl6pPr>
            <a:lvl7pPr marL="4389120" indent="0">
              <a:buNone/>
              <a:defRPr sz="2560" b="1"/>
            </a:lvl7pPr>
            <a:lvl8pPr marL="5120640" indent="0">
              <a:buNone/>
              <a:defRPr sz="2560" b="1"/>
            </a:lvl8pPr>
            <a:lvl9pPr marL="5852160" indent="0">
              <a:buNone/>
              <a:defRPr sz="256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1" y="5272255"/>
            <a:ext cx="6219826" cy="775469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01967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25716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72496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962237"/>
            <a:ext cx="4718685" cy="3367828"/>
          </a:xfrm>
        </p:spPr>
        <p:txBody>
          <a:bodyPr anchor="b"/>
          <a:lstStyle>
            <a:lvl1pPr>
              <a:defRPr sz="512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2078167"/>
            <a:ext cx="7406640" cy="10257176"/>
          </a:xfrm>
        </p:spPr>
        <p:txBody>
          <a:bodyPr/>
          <a:lstStyle>
            <a:lvl1pPr>
              <a:defRPr sz="5120"/>
            </a:lvl1pPr>
            <a:lvl2pPr>
              <a:defRPr sz="4480"/>
            </a:lvl2pPr>
            <a:lvl3pPr>
              <a:defRPr sz="384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4330065"/>
            <a:ext cx="4718685" cy="8021981"/>
          </a:xfrm>
        </p:spPr>
        <p:txBody>
          <a:bodyPr/>
          <a:lstStyle>
            <a:lvl1pPr marL="0" indent="0">
              <a:buNone/>
              <a:defRPr sz="2560"/>
            </a:lvl1pPr>
            <a:lvl2pPr marL="731520" indent="0">
              <a:buNone/>
              <a:defRPr sz="2240"/>
            </a:lvl2pPr>
            <a:lvl3pPr marL="1463040" indent="0">
              <a:buNone/>
              <a:defRPr sz="1920"/>
            </a:lvl3pPr>
            <a:lvl4pPr marL="2194560" indent="0">
              <a:buNone/>
              <a:defRPr sz="1600"/>
            </a:lvl4pPr>
            <a:lvl5pPr marL="2926080" indent="0">
              <a:buNone/>
              <a:defRPr sz="1600"/>
            </a:lvl5pPr>
            <a:lvl6pPr marL="3657600" indent="0">
              <a:buNone/>
              <a:defRPr sz="1600"/>
            </a:lvl6pPr>
            <a:lvl7pPr marL="4389120" indent="0">
              <a:buNone/>
              <a:defRPr sz="1600"/>
            </a:lvl7pPr>
            <a:lvl8pPr marL="5120640" indent="0">
              <a:buNone/>
              <a:defRPr sz="1600"/>
            </a:lvl8pPr>
            <a:lvl9pPr marL="5852160" indent="0">
              <a:buNone/>
              <a:defRPr sz="16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00809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962237"/>
            <a:ext cx="4718685" cy="3367828"/>
          </a:xfrm>
        </p:spPr>
        <p:txBody>
          <a:bodyPr anchor="b"/>
          <a:lstStyle>
            <a:lvl1pPr>
              <a:defRPr sz="512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2078167"/>
            <a:ext cx="7406640" cy="10257176"/>
          </a:xfrm>
        </p:spPr>
        <p:txBody>
          <a:bodyPr anchor="t"/>
          <a:lstStyle>
            <a:lvl1pPr marL="0" indent="0">
              <a:buNone/>
              <a:defRPr sz="5120"/>
            </a:lvl1pPr>
            <a:lvl2pPr marL="731520" indent="0">
              <a:buNone/>
              <a:defRPr sz="4480"/>
            </a:lvl2pPr>
            <a:lvl3pPr marL="1463040" indent="0">
              <a:buNone/>
              <a:defRPr sz="3840"/>
            </a:lvl3pPr>
            <a:lvl4pPr marL="2194560" indent="0">
              <a:buNone/>
              <a:defRPr sz="3200"/>
            </a:lvl4pPr>
            <a:lvl5pPr marL="2926080" indent="0">
              <a:buNone/>
              <a:defRPr sz="3200"/>
            </a:lvl5pPr>
            <a:lvl6pPr marL="3657600" indent="0">
              <a:buNone/>
              <a:defRPr sz="3200"/>
            </a:lvl6pPr>
            <a:lvl7pPr marL="4389120" indent="0">
              <a:buNone/>
              <a:defRPr sz="3200"/>
            </a:lvl7pPr>
            <a:lvl8pPr marL="5120640" indent="0">
              <a:buNone/>
              <a:defRPr sz="3200"/>
            </a:lvl8pPr>
            <a:lvl9pPr marL="5852160" indent="0">
              <a:buNone/>
              <a:defRPr sz="32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4330065"/>
            <a:ext cx="4718685" cy="8021981"/>
          </a:xfrm>
        </p:spPr>
        <p:txBody>
          <a:bodyPr/>
          <a:lstStyle>
            <a:lvl1pPr marL="0" indent="0">
              <a:buNone/>
              <a:defRPr sz="2560"/>
            </a:lvl1pPr>
            <a:lvl2pPr marL="731520" indent="0">
              <a:buNone/>
              <a:defRPr sz="2240"/>
            </a:lvl2pPr>
            <a:lvl3pPr marL="1463040" indent="0">
              <a:buNone/>
              <a:defRPr sz="1920"/>
            </a:lvl3pPr>
            <a:lvl4pPr marL="2194560" indent="0">
              <a:buNone/>
              <a:defRPr sz="1600"/>
            </a:lvl4pPr>
            <a:lvl5pPr marL="2926080" indent="0">
              <a:buNone/>
              <a:defRPr sz="1600"/>
            </a:lvl5pPr>
            <a:lvl6pPr marL="3657600" indent="0">
              <a:buNone/>
              <a:defRPr sz="1600"/>
            </a:lvl6pPr>
            <a:lvl7pPr marL="4389120" indent="0">
              <a:buNone/>
              <a:defRPr sz="1600"/>
            </a:lvl7pPr>
            <a:lvl8pPr marL="5120640" indent="0">
              <a:buNone/>
              <a:defRPr sz="1600"/>
            </a:lvl8pPr>
            <a:lvl9pPr marL="5852160" indent="0">
              <a:buNone/>
              <a:defRPr sz="16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654751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83538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1" y="768453"/>
            <a:ext cx="3154680" cy="12231766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1" y="768453"/>
            <a:ext cx="9281160" cy="12231766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792608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2625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768456"/>
            <a:ext cx="12618720" cy="27898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3842264"/>
            <a:ext cx="12618720" cy="91579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13377766"/>
            <a:ext cx="3291840" cy="7684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13377766"/>
            <a:ext cx="4937760" cy="7684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13377766"/>
            <a:ext cx="3291840" cy="7684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65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1463040" rtl="0" eaLnBrk="1" latinLnBrk="0" hangingPunct="1">
        <a:lnSpc>
          <a:spcPct val="90000"/>
        </a:lnSpc>
        <a:spcBef>
          <a:spcPct val="0"/>
        </a:spcBef>
        <a:buNone/>
        <a:defRPr sz="70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760" indent="-365760" algn="l" defTabSz="146304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4480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56032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4pPr>
      <a:lvl5pPr marL="329184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5pPr>
      <a:lvl6pPr marL="402336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75488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48640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621792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46304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219456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8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5pPr>
      <a:lvl6pPr marL="365760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38912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12064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585216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0646692">
            <a:off x="5104342" y="1167492"/>
            <a:ext cx="763252" cy="5178493"/>
          </a:xfrm>
          <a:custGeom>
            <a:avLst/>
            <a:gdLst/>
            <a:ahLst/>
            <a:cxnLst/>
            <a:rect l="l" t="t" r="r" b="b"/>
            <a:pathLst>
              <a:path w="333375" h="1924050">
                <a:moveTo>
                  <a:pt x="333375" y="1924050"/>
                </a:moveTo>
                <a:cubicBezTo>
                  <a:pt x="333375" y="857250"/>
                  <a:pt x="190500" y="285750"/>
                  <a:pt x="0" y="0"/>
                </a:cubicBezTo>
              </a:path>
            </a:pathLst>
          </a:custGeom>
          <a:ln w="28575">
            <a:solidFill>
              <a:srgbClr val="D98AE6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3" name="Shape 1"/>
          <p:cNvSpPr/>
          <p:nvPr/>
        </p:nvSpPr>
        <p:spPr>
          <a:xfrm>
            <a:off x="4210051" y="2575659"/>
            <a:ext cx="2000247" cy="3593366"/>
          </a:xfrm>
          <a:custGeom>
            <a:avLst/>
            <a:gdLst/>
            <a:ahLst/>
            <a:cxnLst/>
            <a:rect l="l" t="t" r="r" b="b"/>
            <a:pathLst>
              <a:path w="228600" h="838200">
                <a:moveTo>
                  <a:pt x="228600" y="838200"/>
                </a:moveTo>
                <a:cubicBezTo>
                  <a:pt x="133350" y="171450"/>
                  <a:pt x="133350" y="28575"/>
                  <a:pt x="0" y="0"/>
                </a:cubicBezTo>
              </a:path>
            </a:pathLst>
          </a:custGeom>
          <a:ln w="28575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 rot="15124243">
            <a:off x="3602214" y="4594696"/>
            <a:ext cx="3149243" cy="853133"/>
          </a:xfrm>
          <a:custGeom>
            <a:avLst/>
            <a:gdLst/>
            <a:ahLst/>
            <a:cxnLst/>
            <a:rect l="l" t="t" r="r" b="b"/>
            <a:pathLst>
              <a:path w="228600" h="190500">
                <a:moveTo>
                  <a:pt x="228600" y="0"/>
                </a:moveTo>
                <a:cubicBezTo>
                  <a:pt x="228600" y="142875"/>
                  <a:pt x="133350" y="190500"/>
                  <a:pt x="0" y="190500"/>
                </a:cubicBezTo>
              </a:path>
            </a:pathLst>
          </a:custGeom>
          <a:ln w="28575">
            <a:solidFill>
              <a:srgbClr val="46C37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 flipV="1">
            <a:off x="4410074" y="4873624"/>
            <a:ext cx="1457326" cy="1630319"/>
          </a:xfrm>
          <a:custGeom>
            <a:avLst/>
            <a:gdLst/>
            <a:ahLst/>
            <a:cxnLst/>
            <a:rect l="l" t="t" r="r" b="b"/>
            <a:pathLst>
              <a:path w="323850" h="1047750">
                <a:moveTo>
                  <a:pt x="323850" y="0"/>
                </a:moveTo>
                <a:cubicBezTo>
                  <a:pt x="228600" y="571500"/>
                  <a:pt x="133350" y="952500"/>
                  <a:pt x="0" y="1047750"/>
                </a:cubicBezTo>
              </a:path>
            </a:pathLst>
          </a:custGeom>
          <a:ln w="28575">
            <a:solidFill>
              <a:srgbClr val="5AA9F0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6" name="Shape 4"/>
          <p:cNvSpPr/>
          <p:nvPr/>
        </p:nvSpPr>
        <p:spPr>
          <a:xfrm flipV="1">
            <a:off x="4571999" y="6446793"/>
            <a:ext cx="1266827" cy="126350"/>
          </a:xfrm>
          <a:custGeom>
            <a:avLst/>
            <a:gdLst/>
            <a:ahLst/>
            <a:cxnLst/>
            <a:rect l="l" t="t" r="r" b="b"/>
            <a:pathLst>
              <a:path w="1047750" h="1714500">
                <a:moveTo>
                  <a:pt x="1047750" y="0"/>
                </a:moveTo>
                <a:cubicBezTo>
                  <a:pt x="476250" y="762000"/>
                  <a:pt x="95250" y="1524000"/>
                  <a:pt x="0" y="1714500"/>
                </a:cubicBezTo>
              </a:path>
            </a:pathLst>
          </a:custGeom>
          <a:ln w="28575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4531449" y="7292975"/>
            <a:ext cx="1183552" cy="472293"/>
          </a:xfrm>
          <a:custGeom>
            <a:avLst/>
            <a:gdLst/>
            <a:ahLst/>
            <a:cxnLst/>
            <a:rect l="l" t="t" r="r" b="b"/>
            <a:pathLst>
              <a:path w="971550" h="2381250">
                <a:moveTo>
                  <a:pt x="971550" y="0"/>
                </a:moveTo>
                <a:cubicBezTo>
                  <a:pt x="590550" y="1143000"/>
                  <a:pt x="209550" y="2095500"/>
                  <a:pt x="0" y="2381250"/>
                </a:cubicBezTo>
              </a:path>
            </a:pathLst>
          </a:custGeom>
          <a:ln w="28575">
            <a:solidFill>
              <a:srgbClr val="4CC3D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5295899" y="7216775"/>
            <a:ext cx="771523" cy="1908879"/>
          </a:xfrm>
          <a:custGeom>
            <a:avLst/>
            <a:gdLst/>
            <a:ahLst/>
            <a:cxnLst/>
            <a:rect l="l" t="t" r="r" b="b"/>
            <a:pathLst>
              <a:path w="609600" h="3048000">
                <a:moveTo>
                  <a:pt x="609600" y="0"/>
                </a:moveTo>
                <a:cubicBezTo>
                  <a:pt x="514350" y="1905000"/>
                  <a:pt x="323850" y="2476500"/>
                  <a:pt x="0" y="3048000"/>
                </a:cubicBezTo>
              </a:path>
            </a:pathLst>
          </a:custGeom>
          <a:ln w="28575">
            <a:solidFill>
              <a:srgbClr val="F06F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6877050" y="562429"/>
            <a:ext cx="1765438" cy="5530396"/>
          </a:xfrm>
          <a:custGeom>
            <a:avLst/>
            <a:gdLst/>
            <a:ahLst/>
            <a:cxnLst/>
            <a:rect l="l" t="t" r="r" b="b"/>
            <a:pathLst>
              <a:path w="2667000" h="3143250">
                <a:moveTo>
                  <a:pt x="95250" y="3143250"/>
                </a:moveTo>
                <a:cubicBezTo>
                  <a:pt x="0" y="1809750"/>
                  <a:pt x="190500" y="571500"/>
                  <a:pt x="571500" y="381000"/>
                </a:cubicBezTo>
                <a:cubicBezTo>
                  <a:pt x="1524000" y="0"/>
                  <a:pt x="2095500" y="0"/>
                  <a:pt x="2667000" y="95250"/>
                </a:cubicBezTo>
              </a:path>
            </a:pathLst>
          </a:custGeom>
          <a:ln w="28575">
            <a:solidFill>
              <a:srgbClr val="9B6B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7138986" y="1972129"/>
            <a:ext cx="1503501" cy="4210049"/>
          </a:xfrm>
          <a:custGeom>
            <a:avLst/>
            <a:gdLst/>
            <a:ahLst/>
            <a:cxnLst/>
            <a:rect l="l" t="t" r="r" b="b"/>
            <a:pathLst>
              <a:path w="2095500" h="1619250">
                <a:moveTo>
                  <a:pt x="0" y="1619250"/>
                </a:moveTo>
                <a:cubicBezTo>
                  <a:pt x="190500" y="666750"/>
                  <a:pt x="762000" y="190500"/>
                  <a:pt x="2095500" y="0"/>
                </a:cubicBezTo>
              </a:path>
            </a:pathLst>
          </a:custGeom>
          <a:ln w="28575">
            <a:solidFill>
              <a:srgbClr val="4AA8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7562849" y="3597275"/>
            <a:ext cx="885825" cy="2489654"/>
          </a:xfrm>
          <a:custGeom>
            <a:avLst/>
            <a:gdLst/>
            <a:ahLst/>
            <a:cxnLst/>
            <a:rect l="l" t="t" r="r" b="b"/>
            <a:pathLst>
              <a:path w="476250" h="571500">
                <a:moveTo>
                  <a:pt x="0" y="571500"/>
                </a:moveTo>
                <a:cubicBezTo>
                  <a:pt x="190500" y="190500"/>
                  <a:pt x="285750" y="0"/>
                  <a:pt x="476250" y="0"/>
                </a:cubicBezTo>
              </a:path>
            </a:pathLst>
          </a:custGeom>
          <a:ln w="28575">
            <a:solidFill>
              <a:srgbClr val="33C48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 flipV="1">
            <a:off x="7905750" y="5006975"/>
            <a:ext cx="600073" cy="1496968"/>
          </a:xfrm>
          <a:custGeom>
            <a:avLst/>
            <a:gdLst/>
            <a:ahLst/>
            <a:cxnLst/>
            <a:rect l="l" t="t" r="r" b="b"/>
            <a:pathLst>
              <a:path w="476250" h="285750">
                <a:moveTo>
                  <a:pt x="0" y="0"/>
                </a:moveTo>
                <a:cubicBezTo>
                  <a:pt x="190500" y="190500"/>
                  <a:pt x="285750" y="285750"/>
                  <a:pt x="476250" y="285750"/>
                </a:cubicBezTo>
              </a:path>
            </a:pathLst>
          </a:custGeom>
          <a:ln w="28575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 flipV="1">
            <a:off x="7924800" y="6315529"/>
            <a:ext cx="923924" cy="323850"/>
          </a:xfrm>
          <a:custGeom>
            <a:avLst/>
            <a:gdLst/>
            <a:ahLst/>
            <a:cxnLst/>
            <a:rect l="l" t="t" r="r" b="b"/>
            <a:pathLst>
              <a:path w="857250" h="857250">
                <a:moveTo>
                  <a:pt x="0" y="0"/>
                </a:moveTo>
                <a:cubicBezTo>
                  <a:pt x="285750" y="381000"/>
                  <a:pt x="476250" y="571500"/>
                  <a:pt x="857250" y="857250"/>
                </a:cubicBezTo>
              </a:path>
            </a:pathLst>
          </a:custGeom>
          <a:ln w="28575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7579446" y="7077530"/>
            <a:ext cx="1485903" cy="596446"/>
          </a:xfrm>
          <a:custGeom>
            <a:avLst/>
            <a:gdLst/>
            <a:ahLst/>
            <a:cxnLst/>
            <a:rect l="l" t="t" r="r" b="b"/>
            <a:pathLst>
              <a:path w="1333500" h="2000250">
                <a:moveTo>
                  <a:pt x="0" y="0"/>
                </a:moveTo>
                <a:cubicBezTo>
                  <a:pt x="190500" y="1047750"/>
                  <a:pt x="571500" y="1619250"/>
                  <a:pt x="1333500" y="2000250"/>
                </a:cubicBezTo>
              </a:path>
            </a:pathLst>
          </a:custGeom>
          <a:ln w="28575">
            <a:solidFill>
              <a:srgbClr val="F06F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7259499" y="7176589"/>
            <a:ext cx="2053500" cy="1882140"/>
          </a:xfrm>
          <a:custGeom>
            <a:avLst/>
            <a:gdLst/>
            <a:ahLst/>
            <a:cxnLst/>
            <a:rect l="l" t="t" r="r" b="b"/>
            <a:pathLst>
              <a:path w="1428750" h="3429000">
                <a:moveTo>
                  <a:pt x="0" y="0"/>
                </a:moveTo>
                <a:cubicBezTo>
                  <a:pt x="0" y="1714500"/>
                  <a:pt x="571500" y="3048000"/>
                  <a:pt x="1428750" y="3429000"/>
                </a:cubicBezTo>
              </a:path>
            </a:pathLst>
          </a:custGeom>
          <a:ln w="28575">
            <a:solidFill>
              <a:srgbClr val="4AA8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arjeta 1"/>
          <p:cNvSpPr/>
          <p:nvPr/>
        </p:nvSpPr>
        <p:spPr>
          <a:xfrm>
            <a:off x="228600" y="511175"/>
            <a:ext cx="4210050" cy="1162050"/>
          </a:xfrm>
          <a:prstGeom prst="roundRect">
            <a:avLst>
              <a:gd name="adj" fmla="val 17311"/>
            </a:avLst>
          </a:prstGeom>
          <a:solidFill>
            <a:srgbClr val="FFF0F6"/>
          </a:solidFill>
          <a:ln w="28575">
            <a:solidFill>
              <a:srgbClr val="F59AC0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81000" y="587375"/>
            <a:ext cx="3905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50" b="1" dirty="0">
                <a:solidFill>
                  <a:srgbClr val="D63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Arquitectura en capas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333375" y="796925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 la aplicación en capas (presentación, lógica de negocio, datos) para que cada parte tenga una responsabilidad.</a:t>
            </a:r>
            <a:endParaRPr lang="en-US" sz="1000" dirty="0"/>
          </a:p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una app web con frontend, backend y base de datos.</a:t>
            </a:r>
            <a:endParaRPr lang="en-US" sz="1000" dirty="0"/>
          </a:p>
        </p:txBody>
      </p:sp>
      <p:sp>
        <p:nvSpPr>
          <p:cNvPr id="19" name="Tarjeta 2"/>
          <p:cNvSpPr/>
          <p:nvPr/>
        </p:nvSpPr>
        <p:spPr>
          <a:xfrm>
            <a:off x="228600" y="1806575"/>
            <a:ext cx="4210050" cy="1181100"/>
          </a:xfrm>
          <a:prstGeom prst="roundRect">
            <a:avLst>
              <a:gd name="adj" fmla="val 17032"/>
            </a:avLst>
          </a:prstGeom>
          <a:solidFill>
            <a:srgbClr val="FFF8E1"/>
          </a:solidFill>
          <a:ln w="28575">
            <a:solidFill>
              <a:srgbClr val="F5C84A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81000" y="1882775"/>
            <a:ext cx="3905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5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Arquitectura monolítica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381000" y="2149475"/>
            <a:ext cx="2476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el sistema está en un solo proyecto y se despliega junto.</a:t>
            </a:r>
            <a:endParaRPr lang="en-US" sz="1000" dirty="0"/>
          </a:p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más simple, pero menos flexible para escalar.</a:t>
            </a:r>
            <a:endParaRPr lang="en-US" sz="1000" dirty="0"/>
          </a:p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una app pequeña como un blog.</a:t>
            </a:r>
            <a:endParaRPr lang="en-US" sz="1000" dirty="0"/>
          </a:p>
        </p:txBody>
      </p:sp>
      <p:sp>
        <p:nvSpPr>
          <p:cNvPr id="22" name="Tarjeta 3"/>
          <p:cNvSpPr/>
          <p:nvPr/>
        </p:nvSpPr>
        <p:spPr>
          <a:xfrm>
            <a:off x="228600" y="3101975"/>
            <a:ext cx="4210050" cy="1162050"/>
          </a:xfrm>
          <a:prstGeom prst="roundRect">
            <a:avLst>
              <a:gd name="adj" fmla="val 17311"/>
            </a:avLst>
          </a:prstGeom>
          <a:solidFill>
            <a:srgbClr val="EFFAF1"/>
          </a:solidFill>
          <a:ln w="28575">
            <a:solidFill>
              <a:srgbClr val="5FCF86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81000" y="3178175"/>
            <a:ext cx="3905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50" b="1" dirty="0">
                <a:solidFill>
                  <a:srgbClr val="1F8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Arquitectura cliente-servidor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381001" y="3444875"/>
            <a:ext cx="23336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cliente (usuario) solicita información y el servidor la procesa y responde.</a:t>
            </a:r>
            <a:endParaRPr lang="en-US" sz="1000" dirty="0"/>
          </a:p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centralizar los datos y recursos.</a:t>
            </a:r>
            <a:endParaRPr lang="en-US" sz="1000" dirty="0"/>
          </a:p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un navegador (cliente) que se conecta a un servidor web.</a:t>
            </a:r>
            <a:endParaRPr lang="en-US" sz="1000" dirty="0"/>
          </a:p>
        </p:txBody>
      </p:sp>
      <p:sp>
        <p:nvSpPr>
          <p:cNvPr id="25" name="Tarjeta 4"/>
          <p:cNvSpPr/>
          <p:nvPr/>
        </p:nvSpPr>
        <p:spPr>
          <a:xfrm>
            <a:off x="228600" y="4359275"/>
            <a:ext cx="4210050" cy="1200150"/>
          </a:xfrm>
          <a:prstGeom prst="roundRect">
            <a:avLst>
              <a:gd name="adj" fmla="val 16762"/>
            </a:avLst>
          </a:prstGeom>
          <a:solidFill>
            <a:srgbClr val="E9F6FF"/>
          </a:solidFill>
          <a:ln w="28575">
            <a:solidFill>
              <a:srgbClr val="5AA9F0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381000" y="4435475"/>
            <a:ext cx="3905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50" b="1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Arquitectura MVC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381000" y="4702175"/>
            <a:ext cx="2476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 la lógica en 3 partes: modelo, vista y controlador.</a:t>
            </a:r>
            <a:endParaRPr lang="en-US" sz="1000" dirty="0"/>
          </a:p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 el mantenimiento y la organización del código.</a:t>
            </a:r>
            <a:endParaRPr lang="en-US" sz="1000" dirty="0"/>
          </a:p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una página web con MVC en frameworks como Spring o Laravel.</a:t>
            </a:r>
            <a:endParaRPr lang="en-US" sz="1000" dirty="0"/>
          </a:p>
        </p:txBody>
      </p:sp>
      <p:sp>
        <p:nvSpPr>
          <p:cNvPr id="28" name="Tarjeta 5"/>
          <p:cNvSpPr/>
          <p:nvPr/>
        </p:nvSpPr>
        <p:spPr>
          <a:xfrm>
            <a:off x="228600" y="5654675"/>
            <a:ext cx="4438650" cy="1352550"/>
          </a:xfrm>
          <a:prstGeom prst="roundRect">
            <a:avLst>
              <a:gd name="adj" fmla="val 14873"/>
            </a:avLst>
          </a:prstGeom>
          <a:solidFill>
            <a:srgbClr val="FDF0FB"/>
          </a:solidFill>
          <a:ln w="28575">
            <a:solidFill>
              <a:srgbClr val="E08AE0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381000" y="5730875"/>
            <a:ext cx="4133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50" b="1" dirty="0">
                <a:solidFill>
                  <a:srgbClr val="A23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Arquitectura de </a:t>
            </a:r>
            <a:r>
              <a:rPr lang="en-US" sz="1350" b="1" dirty="0" err="1">
                <a:solidFill>
                  <a:srgbClr val="A23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microservicios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381000" y="5997575"/>
            <a:ext cx="2762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 la aplicación en servicios pequeños e independientes.</a:t>
            </a:r>
            <a:endParaRPr lang="en-US" sz="1000" dirty="0"/>
          </a:p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servicio se comunica por APIs.</a:t>
            </a:r>
            <a:endParaRPr lang="en-US" sz="1000" dirty="0"/>
          </a:p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escalar y actualizar partes sin afectar todo el sistema.</a:t>
            </a:r>
            <a:endParaRPr lang="en-US" sz="1000" dirty="0"/>
          </a:p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una app de e-commerce con servicios de usuarios, pedidos y pagos.</a:t>
            </a:r>
            <a:endParaRPr lang="en-US" sz="1000" dirty="0"/>
          </a:p>
        </p:txBody>
      </p:sp>
      <p:sp>
        <p:nvSpPr>
          <p:cNvPr id="31" name="Tarjeta 6"/>
          <p:cNvSpPr/>
          <p:nvPr/>
        </p:nvSpPr>
        <p:spPr>
          <a:xfrm>
            <a:off x="228600" y="7140575"/>
            <a:ext cx="4533900" cy="1200150"/>
          </a:xfrm>
          <a:prstGeom prst="roundRect">
            <a:avLst>
              <a:gd name="adj" fmla="val 16762"/>
            </a:avLst>
          </a:prstGeom>
          <a:solidFill>
            <a:srgbClr val="E8FAFA"/>
          </a:solidFill>
          <a:ln w="28575">
            <a:solidFill>
              <a:srgbClr val="4CC3D9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381000" y="7216775"/>
            <a:ext cx="4229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50" b="1" dirty="0">
                <a:solidFill>
                  <a:srgbClr val="1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Arquitectura orientada a servicios (SOA)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381000" y="7483475"/>
            <a:ext cx="27622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 el sistema en servicios reutilizables que se comunican entre sí.</a:t>
            </a:r>
            <a:endParaRPr lang="en-US" sz="1000" dirty="0"/>
          </a:p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enfoca en la integración entre aplicaciones.</a:t>
            </a:r>
            <a:endParaRPr lang="en-US" sz="1000" dirty="0"/>
          </a:p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empresas que comparten servicios como facturación o inventario.</a:t>
            </a:r>
            <a:endParaRPr lang="en-US" sz="1000" dirty="0"/>
          </a:p>
        </p:txBody>
      </p:sp>
      <p:sp>
        <p:nvSpPr>
          <p:cNvPr id="34" name="Tarjeta 7"/>
          <p:cNvSpPr/>
          <p:nvPr/>
        </p:nvSpPr>
        <p:spPr>
          <a:xfrm>
            <a:off x="228600" y="8455025"/>
            <a:ext cx="5086350" cy="1333500"/>
          </a:xfrm>
          <a:prstGeom prst="roundRect">
            <a:avLst>
              <a:gd name="adj" fmla="val 15086"/>
            </a:avLst>
          </a:prstGeom>
          <a:solidFill>
            <a:srgbClr val="FFF0F4"/>
          </a:solidFill>
          <a:ln w="28575">
            <a:solidFill>
              <a:srgbClr val="F5799C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381000" y="8531225"/>
            <a:ext cx="4781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5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Arquitectura hexagonal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381000" y="8797925"/>
            <a:ext cx="314325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Aísla la lógica de negocio de los detalles externos (base de datos, APIs, interfaz).</a:t>
            </a:r>
            <a:endParaRPr lang="en-US" sz="1000" dirty="0"/>
          </a:p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 las pruebas y el cambio de tecnologías.</a:t>
            </a:r>
            <a:endParaRPr lang="en-US" sz="1000" dirty="0"/>
          </a:p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una API que se conecta a la base de datos a través de un puerto (adapter).</a:t>
            </a:r>
            <a:endParaRPr lang="en-US" sz="1000" dirty="0"/>
          </a:p>
        </p:txBody>
      </p:sp>
      <p:sp>
        <p:nvSpPr>
          <p:cNvPr id="37" name="Tarjeta 8"/>
          <p:cNvSpPr/>
          <p:nvPr/>
        </p:nvSpPr>
        <p:spPr>
          <a:xfrm>
            <a:off x="8415337" y="124279"/>
            <a:ext cx="5986462" cy="1238250"/>
          </a:xfrm>
          <a:prstGeom prst="roundRect">
            <a:avLst>
              <a:gd name="adj" fmla="val 16246"/>
            </a:avLst>
          </a:prstGeom>
          <a:solidFill>
            <a:srgbClr val="F6ECFF"/>
          </a:solidFill>
          <a:ln w="28575">
            <a:solidFill>
              <a:srgbClr val="A77BF0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8567737" y="200479"/>
            <a:ext cx="537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50" b="1" dirty="0">
                <a:solidFill>
                  <a:srgbClr val="6B3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Singleton y Factory Method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8567737" y="467179"/>
            <a:ext cx="20002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Singleton</a:t>
            </a:r>
            <a:endParaRPr lang="en-US" sz="1000" dirty="0"/>
          </a:p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Garantiza una sola instancia de una clase en todo el sistema.</a:t>
            </a:r>
            <a:endParaRPr lang="en-US" sz="1000" dirty="0"/>
          </a:p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conexión a la base de datos.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10663237" y="467179"/>
            <a:ext cx="20002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 Method</a:t>
            </a:r>
            <a:endParaRPr lang="en-US" sz="1000" dirty="0"/>
          </a:p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objetos sin especificar la clase exacta.</a:t>
            </a:r>
            <a:endParaRPr lang="en-US" sz="1000" dirty="0"/>
          </a:p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una fábrica de formas de pago.</a:t>
            </a:r>
            <a:endParaRPr lang="en-US" sz="1000" dirty="0"/>
          </a:p>
        </p:txBody>
      </p:sp>
      <p:sp>
        <p:nvSpPr>
          <p:cNvPr id="41" name="Tarjeta 9"/>
          <p:cNvSpPr/>
          <p:nvPr/>
        </p:nvSpPr>
        <p:spPr>
          <a:xfrm>
            <a:off x="8415337" y="1514929"/>
            <a:ext cx="5986462" cy="1276350"/>
          </a:xfrm>
          <a:prstGeom prst="roundRect">
            <a:avLst>
              <a:gd name="adj" fmla="val 15761"/>
            </a:avLst>
          </a:prstGeom>
          <a:solidFill>
            <a:srgbClr val="E9F6FF"/>
          </a:solidFill>
          <a:ln w="28575">
            <a:solidFill>
              <a:srgbClr val="5AA9F0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8567737" y="1591129"/>
            <a:ext cx="537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50" b="1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Abstract Factory, Builder y Prototype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8567737" y="1857829"/>
            <a:ext cx="14287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Factory</a:t>
            </a:r>
            <a:endParaRPr lang="en-US" sz="1000" dirty="0"/>
          </a:p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familias de objetos relacionados.</a:t>
            </a:r>
            <a:endParaRPr lang="en-US" sz="1000" dirty="0"/>
          </a:p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interfaz gráfica con tema claro/oscuro.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10091737" y="1857829"/>
            <a:ext cx="14287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</a:t>
            </a:r>
            <a:endParaRPr lang="en-US" sz="1000" dirty="0"/>
          </a:p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Construye objetos paso a paso.</a:t>
            </a:r>
            <a:endParaRPr lang="en-US" sz="1000" dirty="0"/>
          </a:p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crear un auto con varias partes.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11615737" y="1857829"/>
            <a:ext cx="14287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</a:t>
            </a:r>
            <a:endParaRPr lang="en-US" sz="1000" dirty="0"/>
          </a:p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Clona objetos existentes.</a:t>
            </a:r>
            <a:endParaRPr lang="en-US" sz="1000" dirty="0"/>
          </a:p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duplicar un </a:t>
            </a:r>
            <a:r>
              <a:rPr lang="en-US" sz="900" dirty="0" err="1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</a:t>
            </a: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  <p:sp>
        <p:nvSpPr>
          <p:cNvPr id="46" name="Tarjeta 10"/>
          <p:cNvSpPr/>
          <p:nvPr/>
        </p:nvSpPr>
        <p:spPr>
          <a:xfrm>
            <a:off x="8415337" y="2924629"/>
            <a:ext cx="5986462" cy="1276350"/>
          </a:xfrm>
          <a:prstGeom prst="roundRect">
            <a:avLst>
              <a:gd name="adj" fmla="val 15761"/>
            </a:avLst>
          </a:prstGeom>
          <a:solidFill>
            <a:srgbClr val="EFFAF1"/>
          </a:solidFill>
          <a:ln w="28575">
            <a:solidFill>
              <a:srgbClr val="5FCF86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8567737" y="3000829"/>
            <a:ext cx="537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50" b="1" dirty="0">
                <a:solidFill>
                  <a:srgbClr val="1F8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Adapter y Facade</a:t>
            </a:r>
            <a:endParaRPr lang="en-US" sz="1350" dirty="0"/>
          </a:p>
        </p:txBody>
      </p:sp>
      <p:sp>
        <p:nvSpPr>
          <p:cNvPr id="48" name="Text 46"/>
          <p:cNvSpPr txBox="1"/>
          <p:nvPr/>
        </p:nvSpPr>
        <p:spPr>
          <a:xfrm>
            <a:off x="8567737" y="3267529"/>
            <a:ext cx="20002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</a:t>
            </a:r>
            <a:endParaRPr lang="en-US" sz="1000" dirty="0"/>
          </a:p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Hace que una interfaz incompatible funcione con otra.</a:t>
            </a:r>
            <a:endParaRPr lang="en-US" sz="1000" dirty="0"/>
          </a:p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un cargador de celular para otro tipo de enchufe.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10663237" y="3267529"/>
            <a:ext cx="20002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Facade</a:t>
            </a:r>
            <a:endParaRPr lang="en-US" sz="1000" dirty="0"/>
          </a:p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Simplifica la interacción con un sistema complejo.</a:t>
            </a:r>
            <a:endParaRPr lang="en-US" sz="1000" dirty="0"/>
          </a:p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una clase que agrupa varias APIs.</a:t>
            </a:r>
            <a:endParaRPr lang="en-US" sz="1000" dirty="0"/>
          </a:p>
        </p:txBody>
      </p:sp>
      <p:sp>
        <p:nvSpPr>
          <p:cNvPr id="50" name="Tarjeta 11"/>
          <p:cNvSpPr/>
          <p:nvPr/>
        </p:nvSpPr>
        <p:spPr>
          <a:xfrm>
            <a:off x="8415337" y="4334329"/>
            <a:ext cx="5918602" cy="1333500"/>
          </a:xfrm>
          <a:prstGeom prst="roundRect">
            <a:avLst>
              <a:gd name="adj" fmla="val 15086"/>
            </a:avLst>
          </a:prstGeom>
          <a:solidFill>
            <a:srgbClr val="FFF8E1"/>
          </a:solidFill>
          <a:ln w="28575">
            <a:solidFill>
              <a:srgbClr val="F5C84A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8567737" y="4410529"/>
            <a:ext cx="537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5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Decorator, Proxy y Bridge</a:t>
            </a:r>
            <a:endParaRPr lang="en-US" sz="1350" dirty="0"/>
          </a:p>
        </p:txBody>
      </p:sp>
      <p:sp>
        <p:nvSpPr>
          <p:cNvPr id="52" name="Text 50"/>
          <p:cNvSpPr txBox="1"/>
          <p:nvPr/>
        </p:nvSpPr>
        <p:spPr>
          <a:xfrm>
            <a:off x="8567737" y="4677229"/>
            <a:ext cx="142875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Decorator</a:t>
            </a:r>
            <a:endParaRPr lang="en-US" sz="1000" dirty="0"/>
          </a:p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 err="1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</a:t>
            </a: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 err="1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</a:t>
            </a: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sin modificar la </a:t>
            </a:r>
            <a:r>
              <a:rPr lang="en-US" sz="900" dirty="0" err="1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</a:t>
            </a: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original.</a:t>
            </a:r>
            <a:endParaRPr lang="en-US" sz="1000" dirty="0"/>
          </a:p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añadir “extra” a un café.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10091737" y="4677229"/>
            <a:ext cx="142875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</a:t>
            </a:r>
            <a:endParaRPr lang="en-US" sz="1000" dirty="0"/>
          </a:p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Controla el acceso a un objeto.</a:t>
            </a:r>
            <a:endParaRPr lang="en-US" sz="1000" dirty="0"/>
          </a:p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verificar permisos antes de usar un </a:t>
            </a:r>
            <a:r>
              <a:rPr lang="en-US" sz="900" dirty="0" err="1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</a:t>
            </a: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11615737" y="4677229"/>
            <a:ext cx="142875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</a:t>
            </a:r>
            <a:endParaRPr lang="en-US" sz="1000" dirty="0"/>
          </a:p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 la abstracción de su implementación.</a:t>
            </a:r>
            <a:endParaRPr lang="en-US" sz="1000" dirty="0"/>
          </a:p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un control remoto que funciona con distintos dispositivos.</a:t>
            </a:r>
            <a:endParaRPr lang="en-US" sz="1000" dirty="0"/>
          </a:p>
        </p:txBody>
      </p:sp>
      <p:sp>
        <p:nvSpPr>
          <p:cNvPr id="55" name="Tarjeta 12"/>
          <p:cNvSpPr/>
          <p:nvPr/>
        </p:nvSpPr>
        <p:spPr>
          <a:xfrm>
            <a:off x="8415337" y="5782129"/>
            <a:ext cx="5935662" cy="1162050"/>
          </a:xfrm>
          <a:prstGeom prst="roundRect">
            <a:avLst>
              <a:gd name="adj" fmla="val 17311"/>
            </a:avLst>
          </a:prstGeom>
          <a:solidFill>
            <a:srgbClr val="F6ECFF"/>
          </a:solidFill>
          <a:ln w="28575">
            <a:solidFill>
              <a:srgbClr val="A77BF0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8567737" y="5858329"/>
            <a:ext cx="537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50" b="1" dirty="0">
                <a:solidFill>
                  <a:srgbClr val="6B3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Composite y Flyweight</a:t>
            </a:r>
            <a:endParaRPr lang="en-US" sz="1350" dirty="0"/>
          </a:p>
        </p:txBody>
      </p:sp>
      <p:sp>
        <p:nvSpPr>
          <p:cNvPr id="57" name="Text 55"/>
          <p:cNvSpPr txBox="1"/>
          <p:nvPr/>
        </p:nvSpPr>
        <p:spPr>
          <a:xfrm>
            <a:off x="8567737" y="6125029"/>
            <a:ext cx="2000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</a:t>
            </a:r>
            <a:endParaRPr lang="en-US" sz="1000" dirty="0"/>
          </a:p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Trata objetos individuales y grupos de forma igual.</a:t>
            </a:r>
            <a:endParaRPr lang="en-US" sz="1000" dirty="0"/>
          </a:p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carpetas y archivos en un sistema.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10663237" y="6125029"/>
            <a:ext cx="2000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Flyweight</a:t>
            </a:r>
            <a:endParaRPr lang="en-US" sz="1000" dirty="0"/>
          </a:p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Comparte datos para ahorrar memoria.</a:t>
            </a:r>
            <a:endParaRPr lang="en-US" sz="1000" dirty="0"/>
          </a:p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muchos árboles con el mismo tipo de hoja.</a:t>
            </a:r>
            <a:endParaRPr lang="en-US" sz="1000" dirty="0"/>
          </a:p>
        </p:txBody>
      </p:sp>
      <p:sp>
        <p:nvSpPr>
          <p:cNvPr id="59" name="Tarjeta 13"/>
          <p:cNvSpPr/>
          <p:nvPr/>
        </p:nvSpPr>
        <p:spPr>
          <a:xfrm>
            <a:off x="8415337" y="7077529"/>
            <a:ext cx="5918602" cy="1123950"/>
          </a:xfrm>
          <a:prstGeom prst="roundRect">
            <a:avLst>
              <a:gd name="adj" fmla="val 17898"/>
            </a:avLst>
          </a:prstGeom>
          <a:solidFill>
            <a:srgbClr val="FFF0F4"/>
          </a:solidFill>
          <a:ln w="28575">
            <a:solidFill>
              <a:srgbClr val="F5799C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en-US" sz="1050" dirty="0"/>
          </a:p>
        </p:txBody>
      </p:sp>
      <p:sp>
        <p:nvSpPr>
          <p:cNvPr id="60" name="Text 58"/>
          <p:cNvSpPr txBox="1"/>
          <p:nvPr/>
        </p:nvSpPr>
        <p:spPr>
          <a:xfrm>
            <a:off x="8567737" y="7153729"/>
            <a:ext cx="537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5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Observer y Mediator</a:t>
            </a:r>
            <a:endParaRPr lang="en-US" sz="1350" dirty="0"/>
          </a:p>
        </p:txBody>
      </p:sp>
      <p:sp>
        <p:nvSpPr>
          <p:cNvPr id="61" name="Text 59"/>
          <p:cNvSpPr txBox="1"/>
          <p:nvPr/>
        </p:nvSpPr>
        <p:spPr>
          <a:xfrm>
            <a:off x="8567737" y="7420429"/>
            <a:ext cx="2000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</a:t>
            </a:r>
            <a:endParaRPr lang="en-US" sz="1000" dirty="0"/>
          </a:p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 a varios objetos cuando cambia un </a:t>
            </a:r>
            <a:r>
              <a:rPr lang="en-US" sz="900" dirty="0" err="1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</a:t>
            </a: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un botón que actualiza la pantalla.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10663237" y="7420429"/>
            <a:ext cx="2000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Mediator</a:t>
            </a:r>
            <a:endParaRPr lang="en-US" sz="1000" dirty="0"/>
          </a:p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Centraliza la comunicación entre objetos.</a:t>
            </a:r>
            <a:endParaRPr lang="en-US" sz="1000" dirty="0"/>
          </a:p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un chat que gestiona los mensajes.</a:t>
            </a:r>
            <a:endParaRPr lang="en-US" sz="1000" dirty="0"/>
          </a:p>
        </p:txBody>
      </p:sp>
      <p:sp>
        <p:nvSpPr>
          <p:cNvPr id="63" name="Tarjeta 14"/>
          <p:cNvSpPr/>
          <p:nvPr/>
        </p:nvSpPr>
        <p:spPr>
          <a:xfrm>
            <a:off x="8415336" y="8315779"/>
            <a:ext cx="5918603" cy="1162050"/>
          </a:xfrm>
          <a:prstGeom prst="roundRect">
            <a:avLst>
              <a:gd name="adj" fmla="val 17311"/>
            </a:avLst>
          </a:prstGeom>
          <a:solidFill>
            <a:srgbClr val="E9F6FF"/>
          </a:solidFill>
          <a:ln w="28575">
            <a:solidFill>
              <a:srgbClr val="5AA9F0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en-US" sz="1050" dirty="0"/>
          </a:p>
        </p:txBody>
      </p:sp>
      <p:sp>
        <p:nvSpPr>
          <p:cNvPr id="64" name="Text 62"/>
          <p:cNvSpPr txBox="1"/>
          <p:nvPr/>
        </p:nvSpPr>
        <p:spPr>
          <a:xfrm>
            <a:off x="8567737" y="8391980"/>
            <a:ext cx="537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50" b="1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 Strategy y State</a:t>
            </a:r>
            <a:endParaRPr lang="en-US" sz="1350" dirty="0"/>
          </a:p>
        </p:txBody>
      </p:sp>
      <p:sp>
        <p:nvSpPr>
          <p:cNvPr id="65" name="Text 63"/>
          <p:cNvSpPr txBox="1"/>
          <p:nvPr/>
        </p:nvSpPr>
        <p:spPr>
          <a:xfrm>
            <a:off x="8567738" y="8658679"/>
            <a:ext cx="21431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000" dirty="0"/>
          </a:p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cambiar el comportamiento según la necesidad.</a:t>
            </a:r>
            <a:endParaRPr lang="en-US" sz="1000" dirty="0"/>
          </a:p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diferentes formas de pago.</a:t>
            </a:r>
            <a:endParaRPr lang="en-US" sz="1000" dirty="0"/>
          </a:p>
        </p:txBody>
      </p:sp>
      <p:sp>
        <p:nvSpPr>
          <p:cNvPr id="66" name="Text 64"/>
          <p:cNvSpPr txBox="1"/>
          <p:nvPr/>
        </p:nvSpPr>
        <p:spPr>
          <a:xfrm>
            <a:off x="10806113" y="8658679"/>
            <a:ext cx="21431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000" dirty="0"/>
          </a:p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 el comportamiento según el estado del objeto.</a:t>
            </a:r>
            <a:endParaRPr lang="en-US" sz="1000" dirty="0"/>
          </a:p>
          <a:p>
            <a:pPr marL="114305" indent="-114305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un pedido (pendiente, enviado, entregado).</a:t>
            </a:r>
            <a:endParaRPr lang="en-US" sz="1000" dirty="0"/>
          </a:p>
        </p:txBody>
      </p:sp>
      <p:sp>
        <p:nvSpPr>
          <p:cNvPr id="67" name="Capa presentación"/>
          <p:cNvSpPr/>
          <p:nvPr/>
        </p:nvSpPr>
        <p:spPr>
          <a:xfrm>
            <a:off x="2667000" y="691065"/>
            <a:ext cx="609600" cy="266700"/>
          </a:xfrm>
          <a:prstGeom prst="diamond">
            <a:avLst/>
          </a:prstGeom>
          <a:solidFill>
            <a:srgbClr val="B38CF5"/>
          </a:solidFill>
          <a:ln w="19050">
            <a:solidFill>
              <a:srgbClr val="7B4FD0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en-US" sz="1050" dirty="0"/>
          </a:p>
        </p:txBody>
      </p:sp>
      <p:sp>
        <p:nvSpPr>
          <p:cNvPr id="68" name="Capa negocio"/>
          <p:cNvSpPr/>
          <p:nvPr/>
        </p:nvSpPr>
        <p:spPr>
          <a:xfrm>
            <a:off x="2667000" y="843465"/>
            <a:ext cx="609600" cy="266700"/>
          </a:xfrm>
          <a:prstGeom prst="diamond">
            <a:avLst/>
          </a:prstGeom>
          <a:solidFill>
            <a:srgbClr val="6AA3F5"/>
          </a:solidFill>
          <a:ln w="19050">
            <a:solidFill>
              <a:srgbClr val="2F5FD0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en-US" sz="1050" dirty="0"/>
          </a:p>
        </p:txBody>
      </p:sp>
      <p:sp>
        <p:nvSpPr>
          <p:cNvPr id="69" name="Capa datos"/>
          <p:cNvSpPr/>
          <p:nvPr/>
        </p:nvSpPr>
        <p:spPr>
          <a:xfrm>
            <a:off x="2676526" y="1021908"/>
            <a:ext cx="609600" cy="266700"/>
          </a:xfrm>
          <a:prstGeom prst="diamond">
            <a:avLst/>
          </a:prstGeom>
          <a:solidFill>
            <a:srgbClr val="6FD39A"/>
          </a:solidFill>
          <a:ln w="19050">
            <a:solidFill>
              <a:srgbClr val="2F9A5A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en-US" sz="1050" dirty="0"/>
          </a:p>
        </p:txBody>
      </p:sp>
      <p:sp>
        <p:nvSpPr>
          <p:cNvPr id="70" name="Text 68"/>
          <p:cNvSpPr txBox="1"/>
          <p:nvPr/>
        </p:nvSpPr>
        <p:spPr>
          <a:xfrm>
            <a:off x="3476625" y="682625"/>
            <a:ext cx="85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lang="en-US" sz="105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</a:t>
            </a:r>
            <a:endParaRPr lang="en-US" sz="1050" dirty="0"/>
          </a:p>
          <a:p>
            <a:pPr>
              <a:spcAft>
                <a:spcPts val="500"/>
              </a:spcAft>
            </a:pPr>
            <a:r>
              <a:rPr lang="en-US" sz="105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Negocio</a:t>
            </a:r>
            <a:endParaRPr lang="en-US" sz="1050" dirty="0"/>
          </a:p>
          <a:p>
            <a:pPr>
              <a:spcAft>
                <a:spcPts val="500"/>
              </a:spcAft>
            </a:pPr>
            <a:r>
              <a:rPr lang="en-US" sz="105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</a:t>
            </a:r>
            <a:endParaRPr lang="en-US" sz="1050" dirty="0"/>
          </a:p>
        </p:txBody>
      </p:sp>
      <p:sp>
        <p:nvSpPr>
          <p:cNvPr id="72" name="Text 70"/>
          <p:cNvSpPr txBox="1"/>
          <p:nvPr/>
        </p:nvSpPr>
        <p:spPr>
          <a:xfrm>
            <a:off x="3057525" y="2625725"/>
            <a:ext cx="8191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5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sola aplicación</a:t>
            </a:r>
            <a:endParaRPr lang="en-US" sz="1050" dirty="0"/>
          </a:p>
        </p:txBody>
      </p:sp>
      <p:sp>
        <p:nvSpPr>
          <p:cNvPr id="73" name="Laptop"/>
          <p:cNvSpPr/>
          <p:nvPr/>
        </p:nvSpPr>
        <p:spPr>
          <a:xfrm>
            <a:off x="2762250" y="3463925"/>
            <a:ext cx="533400" cy="361950"/>
          </a:xfrm>
          <a:prstGeom prst="roundRect">
            <a:avLst/>
          </a:prstGeom>
          <a:solidFill>
            <a:srgbClr val="CFE6FF"/>
          </a:solidFill>
          <a:ln w="19050">
            <a:solidFill>
              <a:srgbClr val="4A7FD0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en-US" sz="1050" dirty="0"/>
          </a:p>
        </p:txBody>
      </p:sp>
      <p:sp>
        <p:nvSpPr>
          <p:cNvPr id="74" name="Base laptop"/>
          <p:cNvSpPr/>
          <p:nvPr/>
        </p:nvSpPr>
        <p:spPr>
          <a:xfrm>
            <a:off x="2705100" y="3844925"/>
            <a:ext cx="647700" cy="57150"/>
          </a:xfrm>
          <a:prstGeom prst="rect">
            <a:avLst/>
          </a:prstGeom>
          <a:solidFill>
            <a:srgbClr val="9DB8E8"/>
          </a:solidFill>
          <a:ln w="19050">
            <a:solidFill>
              <a:srgbClr val="4A7FD0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en-US" sz="1050" dirty="0"/>
          </a:p>
        </p:txBody>
      </p:sp>
      <p:sp>
        <p:nvSpPr>
          <p:cNvPr id="75" name="Servidor 1"/>
          <p:cNvSpPr/>
          <p:nvPr/>
        </p:nvSpPr>
        <p:spPr>
          <a:xfrm>
            <a:off x="3733801" y="3425825"/>
            <a:ext cx="381000" cy="171450"/>
          </a:xfrm>
          <a:prstGeom prst="roundRect">
            <a:avLst/>
          </a:prstGeom>
          <a:solidFill>
            <a:srgbClr val="CFE6FF"/>
          </a:solidFill>
          <a:ln w="19050">
            <a:solidFill>
              <a:srgbClr val="4A7FD0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en-US" sz="1050" dirty="0"/>
          </a:p>
        </p:txBody>
      </p:sp>
      <p:sp>
        <p:nvSpPr>
          <p:cNvPr id="76" name="Servidor 2"/>
          <p:cNvSpPr/>
          <p:nvPr/>
        </p:nvSpPr>
        <p:spPr>
          <a:xfrm>
            <a:off x="3733801" y="3635376"/>
            <a:ext cx="381000" cy="171450"/>
          </a:xfrm>
          <a:prstGeom prst="roundRect">
            <a:avLst/>
          </a:prstGeom>
          <a:solidFill>
            <a:srgbClr val="CFE6FF"/>
          </a:solidFill>
          <a:ln w="19050">
            <a:solidFill>
              <a:srgbClr val="4A7FD0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en-US" sz="1050" dirty="0"/>
          </a:p>
        </p:txBody>
      </p:sp>
      <p:sp>
        <p:nvSpPr>
          <p:cNvPr id="77" name="Flecha ida"/>
          <p:cNvSpPr/>
          <p:nvPr/>
        </p:nvSpPr>
        <p:spPr>
          <a:xfrm>
            <a:off x="3333750" y="3502025"/>
            <a:ext cx="361950" cy="114300"/>
          </a:xfrm>
          <a:prstGeom prst="rightArrow">
            <a:avLst/>
          </a:prstGeom>
          <a:solidFill>
            <a:srgbClr val="8AA8E0"/>
          </a:solidFill>
          <a:ln w="19050">
            <a:solidFill>
              <a:srgbClr val="4A7FD0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en-US" sz="1050" dirty="0"/>
          </a:p>
        </p:txBody>
      </p:sp>
      <p:sp>
        <p:nvSpPr>
          <p:cNvPr id="78" name="Flecha vuelta"/>
          <p:cNvSpPr/>
          <p:nvPr/>
        </p:nvSpPr>
        <p:spPr>
          <a:xfrm>
            <a:off x="3333750" y="3654425"/>
            <a:ext cx="361950" cy="114300"/>
          </a:xfrm>
          <a:prstGeom prst="leftArrow">
            <a:avLst/>
          </a:prstGeom>
          <a:solidFill>
            <a:srgbClr val="8AA8E0"/>
          </a:solidFill>
          <a:ln w="19050">
            <a:solidFill>
              <a:srgbClr val="4A7FD0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en-US" sz="1050" dirty="0"/>
          </a:p>
        </p:txBody>
      </p:sp>
      <p:sp>
        <p:nvSpPr>
          <p:cNvPr id="79" name="Text 77"/>
          <p:cNvSpPr txBox="1"/>
          <p:nvPr/>
        </p:nvSpPr>
        <p:spPr>
          <a:xfrm>
            <a:off x="2743200" y="3959225"/>
            <a:ext cx="666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1050" dirty="0"/>
          </a:p>
        </p:txBody>
      </p:sp>
      <p:sp>
        <p:nvSpPr>
          <p:cNvPr id="80" name="Text 78"/>
          <p:cNvSpPr txBox="1"/>
          <p:nvPr/>
        </p:nvSpPr>
        <p:spPr>
          <a:xfrm>
            <a:off x="3695700" y="3959225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</a:t>
            </a:r>
            <a:endParaRPr lang="en-US" sz="1050" dirty="0"/>
          </a:p>
        </p:txBody>
      </p:sp>
      <p:sp>
        <p:nvSpPr>
          <p:cNvPr id="81" name="Vista"/>
          <p:cNvSpPr/>
          <p:nvPr/>
        </p:nvSpPr>
        <p:spPr>
          <a:xfrm>
            <a:off x="3295650" y="4492625"/>
            <a:ext cx="800100" cy="209550"/>
          </a:xfrm>
          <a:prstGeom prst="roundRect">
            <a:avLst/>
          </a:prstGeom>
          <a:solidFill>
            <a:srgbClr val="BFE0FF"/>
          </a:solidFill>
          <a:ln w="19050">
            <a:solidFill>
              <a:srgbClr val="3B82D6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</a:t>
            </a:r>
            <a:endParaRPr lang="en-US" sz="1050" dirty="0"/>
          </a:p>
        </p:txBody>
      </p:sp>
      <p:sp>
        <p:nvSpPr>
          <p:cNvPr id="82" name="Controlador"/>
          <p:cNvSpPr/>
          <p:nvPr/>
        </p:nvSpPr>
        <p:spPr>
          <a:xfrm>
            <a:off x="3238500" y="4816475"/>
            <a:ext cx="914400" cy="209550"/>
          </a:xfrm>
          <a:prstGeom prst="roundRect">
            <a:avLst/>
          </a:prstGeom>
          <a:solidFill>
            <a:srgbClr val="D7F5D0"/>
          </a:solidFill>
          <a:ln w="19050">
            <a:solidFill>
              <a:srgbClr val="3B9A3B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Controlador</a:t>
            </a:r>
            <a:endParaRPr lang="en-US" sz="1050" dirty="0"/>
          </a:p>
        </p:txBody>
      </p:sp>
      <p:sp>
        <p:nvSpPr>
          <p:cNvPr id="83" name="Modelo"/>
          <p:cNvSpPr/>
          <p:nvPr/>
        </p:nvSpPr>
        <p:spPr>
          <a:xfrm>
            <a:off x="3295650" y="5140325"/>
            <a:ext cx="800100" cy="209550"/>
          </a:xfrm>
          <a:prstGeom prst="roundRect">
            <a:avLst/>
          </a:prstGeom>
          <a:solidFill>
            <a:srgbClr val="A8EC6E"/>
          </a:solidFill>
          <a:ln w="19050">
            <a:solidFill>
              <a:srgbClr val="3B9A3B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</a:t>
            </a:r>
            <a:endParaRPr lang="en-US" sz="1050" dirty="0"/>
          </a:p>
        </p:txBody>
      </p:sp>
      <p:sp>
        <p:nvSpPr>
          <p:cNvPr id="87" name="Nube servicios"/>
          <p:cNvSpPr/>
          <p:nvPr/>
        </p:nvSpPr>
        <p:spPr>
          <a:xfrm>
            <a:off x="3600450" y="7445375"/>
            <a:ext cx="1047750" cy="609600"/>
          </a:xfrm>
          <a:prstGeom prst="cloud">
            <a:avLst/>
          </a:prstGeom>
          <a:solidFill>
            <a:srgbClr val="CFE6FF"/>
          </a:solidFill>
          <a:ln w="19050">
            <a:solidFill>
              <a:srgbClr val="4A7FD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050" dirty="0" err="1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</a:t>
            </a:r>
            <a:endParaRPr lang="en-US" sz="1050" dirty="0"/>
          </a:p>
        </p:txBody>
      </p:sp>
      <p:sp>
        <p:nvSpPr>
          <p:cNvPr id="88" name="Servicio 1"/>
          <p:cNvSpPr/>
          <p:nvPr/>
        </p:nvSpPr>
        <p:spPr>
          <a:xfrm>
            <a:off x="3530135" y="8150225"/>
            <a:ext cx="152400" cy="152400"/>
          </a:xfrm>
          <a:prstGeom prst="rect">
            <a:avLst/>
          </a:prstGeom>
          <a:solidFill>
            <a:srgbClr val="9AE6B4"/>
          </a:solidFill>
          <a:ln w="19050">
            <a:solidFill>
              <a:srgbClr val="777777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en-US" sz="1050" dirty="0"/>
          </a:p>
        </p:txBody>
      </p:sp>
      <p:sp>
        <p:nvSpPr>
          <p:cNvPr id="89" name="Servicio 2"/>
          <p:cNvSpPr/>
          <p:nvPr/>
        </p:nvSpPr>
        <p:spPr>
          <a:xfrm>
            <a:off x="3848100" y="8159750"/>
            <a:ext cx="152400" cy="152400"/>
          </a:xfrm>
          <a:prstGeom prst="rect">
            <a:avLst/>
          </a:prstGeom>
          <a:solidFill>
            <a:srgbClr val="FFE08A"/>
          </a:solidFill>
          <a:ln w="19050">
            <a:solidFill>
              <a:srgbClr val="777777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en-US" sz="1050" dirty="0"/>
          </a:p>
        </p:txBody>
      </p:sp>
      <p:sp>
        <p:nvSpPr>
          <p:cNvPr id="90" name="Servicio 3"/>
          <p:cNvSpPr/>
          <p:nvPr/>
        </p:nvSpPr>
        <p:spPr>
          <a:xfrm>
            <a:off x="4186237" y="8163560"/>
            <a:ext cx="152400" cy="152400"/>
          </a:xfrm>
          <a:prstGeom prst="rect">
            <a:avLst/>
          </a:prstGeom>
          <a:solidFill>
            <a:srgbClr val="C9C9D6"/>
          </a:solidFill>
          <a:ln w="19050">
            <a:solidFill>
              <a:srgbClr val="777777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en-US" sz="1050" dirty="0"/>
          </a:p>
        </p:txBody>
      </p:sp>
      <p:sp>
        <p:nvSpPr>
          <p:cNvPr id="91" name="Servicio 4"/>
          <p:cNvSpPr/>
          <p:nvPr/>
        </p:nvSpPr>
        <p:spPr>
          <a:xfrm>
            <a:off x="4497705" y="8150225"/>
            <a:ext cx="152400" cy="152400"/>
          </a:xfrm>
          <a:prstGeom prst="rect">
            <a:avLst/>
          </a:prstGeom>
          <a:solidFill>
            <a:srgbClr val="E3B5F5"/>
          </a:solidFill>
          <a:ln w="19050">
            <a:solidFill>
              <a:srgbClr val="777777"/>
            </a:solidFill>
          </a:ln>
        </p:spPr>
        <p:txBody>
          <a:bodyPr wrap="square" lIns="0" tIns="0" rIns="0" bIns="0" rtlCol="0" anchor="ctr"/>
          <a:lstStyle/>
          <a:p>
            <a:pPr algn="ctr"/>
            <a:endParaRPr lang="en-US" sz="1050" dirty="0"/>
          </a:p>
        </p:txBody>
      </p:sp>
      <p:sp>
        <p:nvSpPr>
          <p:cNvPr id="92" name="Text 90"/>
          <p:cNvSpPr txBox="1"/>
          <p:nvPr/>
        </p:nvSpPr>
        <p:spPr>
          <a:xfrm>
            <a:off x="4027551" y="86169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Adaptadores</a:t>
            </a:r>
            <a:endParaRPr lang="en-US" sz="1100" dirty="0"/>
          </a:p>
        </p:txBody>
      </p:sp>
      <p:sp>
        <p:nvSpPr>
          <p:cNvPr id="93" name="Hexágono negocio"/>
          <p:cNvSpPr/>
          <p:nvPr/>
        </p:nvSpPr>
        <p:spPr>
          <a:xfrm>
            <a:off x="3987165" y="8855075"/>
            <a:ext cx="857250" cy="742950"/>
          </a:xfrm>
          <a:prstGeom prst="hexagon">
            <a:avLst/>
          </a:prstGeom>
          <a:solidFill>
            <a:srgbClr val="B9A6F5"/>
          </a:solidFill>
          <a:ln w="19050">
            <a:solidFill>
              <a:srgbClr val="5A3FC0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Negocio</a:t>
            </a:r>
            <a:endParaRPr lang="en-US" sz="1200" dirty="0"/>
          </a:p>
        </p:txBody>
      </p:sp>
      <p:sp>
        <p:nvSpPr>
          <p:cNvPr id="94" name="Text 92"/>
          <p:cNvSpPr txBox="1"/>
          <p:nvPr/>
        </p:nvSpPr>
        <p:spPr>
          <a:xfrm>
            <a:off x="3486150" y="9178925"/>
            <a:ext cx="419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</a:t>
            </a:r>
            <a:endParaRPr lang="en-US" sz="900" dirty="0"/>
          </a:p>
        </p:txBody>
      </p:sp>
      <p:sp>
        <p:nvSpPr>
          <p:cNvPr id="95" name="Text 93"/>
          <p:cNvSpPr txBox="1"/>
          <p:nvPr/>
        </p:nvSpPr>
        <p:spPr>
          <a:xfrm>
            <a:off x="4991100" y="9178925"/>
            <a:ext cx="381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Salida</a:t>
            </a:r>
            <a:endParaRPr lang="en-US" sz="900" dirty="0"/>
          </a:p>
        </p:txBody>
      </p:sp>
      <p:sp>
        <p:nvSpPr>
          <p:cNvPr id="111" name="Nube pequeña"/>
          <p:cNvSpPr/>
          <p:nvPr/>
        </p:nvSpPr>
        <p:spPr>
          <a:xfrm>
            <a:off x="4482682" y="570782"/>
            <a:ext cx="2095500" cy="812066"/>
          </a:xfrm>
          <a:prstGeom prst="cloud">
            <a:avLst/>
          </a:prstGeom>
          <a:solidFill>
            <a:srgbClr val="E6DCFF"/>
          </a:solidFill>
          <a:ln w="19050">
            <a:solidFill>
              <a:srgbClr val="A78BFA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4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Arquitecturas de software</a:t>
            </a:r>
            <a:endParaRPr lang="en-US" sz="1200" dirty="0"/>
          </a:p>
        </p:txBody>
      </p:sp>
      <p:sp>
        <p:nvSpPr>
          <p:cNvPr id="112" name="Nube central"/>
          <p:cNvSpPr/>
          <p:nvPr/>
        </p:nvSpPr>
        <p:spPr>
          <a:xfrm>
            <a:off x="5363298" y="5870575"/>
            <a:ext cx="2762250" cy="1809750"/>
          </a:xfrm>
          <a:prstGeom prst="cloud">
            <a:avLst/>
          </a:prstGeom>
          <a:solidFill>
            <a:srgbClr val="F2DCFF"/>
          </a:solidFill>
          <a:ln w="19050">
            <a:solidFill>
              <a:srgbClr val="D98AE6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2B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Arquitecturas de software y patrones de </a:t>
            </a:r>
            <a:r>
              <a:rPr lang="en-US" b="1" dirty="0" err="1">
                <a:solidFill>
                  <a:srgbClr val="2B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</a:t>
            </a:r>
            <a:endParaRPr lang="en-US" dirty="0"/>
          </a:p>
        </p:txBody>
      </p:sp>
      <p:pic>
        <p:nvPicPr>
          <p:cNvPr id="116" name="Imagen 115" descr="square shape 3d icon illustration 22187207 PNG">
            <a:extLst>
              <a:ext uri="{FF2B5EF4-FFF2-40B4-BE49-F238E27FC236}">
                <a16:creationId xmlns:a16="http://schemas.microsoft.com/office/drawing/2014/main" id="{90934505-04B8-8545-F1E4-FFC09A5B8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3861" y="1892300"/>
            <a:ext cx="766762" cy="766762"/>
          </a:xfrm>
          <a:prstGeom prst="rect">
            <a:avLst/>
          </a:prstGeom>
        </p:spPr>
      </p:pic>
      <p:pic>
        <p:nvPicPr>
          <p:cNvPr id="118" name="Imagen 117" descr="3d Square Box">
            <a:extLst>
              <a:ext uri="{FF2B5EF4-FFF2-40B4-BE49-F238E27FC236}">
                <a16:creationId xmlns:a16="http://schemas.microsoft.com/office/drawing/2014/main" id="{48BB0965-2075-CDF9-90D9-4E6C07E265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9609" y="6344927"/>
            <a:ext cx="544835" cy="528325"/>
          </a:xfrm>
          <a:prstGeom prst="rect">
            <a:avLst/>
          </a:prstGeom>
        </p:spPr>
      </p:pic>
      <p:pic>
        <p:nvPicPr>
          <p:cNvPr id="119" name="Imagen 118" descr="cubo morado 3d. 17193863 PNG">
            <a:extLst>
              <a:ext uri="{FF2B5EF4-FFF2-40B4-BE49-F238E27FC236}">
                <a16:creationId xmlns:a16="http://schemas.microsoft.com/office/drawing/2014/main" id="{5D08987F-43DC-71E5-F8F8-71E23BC8D7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4061450" y="6388101"/>
            <a:ext cx="421232" cy="407014"/>
          </a:xfrm>
          <a:prstGeom prst="rect">
            <a:avLst/>
          </a:prstGeom>
        </p:spPr>
      </p:pic>
      <p:pic>
        <p:nvPicPr>
          <p:cNvPr id="121" name="Imagen 120" descr="square shape 3d icon illustration 22187207 PNG">
            <a:extLst>
              <a:ext uri="{FF2B5EF4-FFF2-40B4-BE49-F238E27FC236}">
                <a16:creationId xmlns:a16="http://schemas.microsoft.com/office/drawing/2014/main" id="{531577D6-CFA0-C430-9DBA-C49C40A74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796" y="5667128"/>
            <a:ext cx="597148" cy="597148"/>
          </a:xfrm>
          <a:prstGeom prst="rect">
            <a:avLst/>
          </a:prstGeom>
        </p:spPr>
      </p:pic>
      <p:pic>
        <p:nvPicPr>
          <p:cNvPr id="122" name="Imagen 121" descr="Página 2 | Flecha Curva PNG para descargar gratis">
            <a:extLst>
              <a:ext uri="{FF2B5EF4-FFF2-40B4-BE49-F238E27FC236}">
                <a16:creationId xmlns:a16="http://schemas.microsoft.com/office/drawing/2014/main" id="{4F8A612F-E365-22E2-86BF-9EB2EE1B47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798144" flipH="1">
            <a:off x="3439791" y="6103615"/>
            <a:ext cx="292445" cy="292445"/>
          </a:xfrm>
          <a:prstGeom prst="rect">
            <a:avLst/>
          </a:prstGeom>
        </p:spPr>
      </p:pic>
      <p:pic>
        <p:nvPicPr>
          <p:cNvPr id="126" name="Imagen 125" descr="Página 2 | Flecha Curva PNG para descargar gratis">
            <a:extLst>
              <a:ext uri="{FF2B5EF4-FFF2-40B4-BE49-F238E27FC236}">
                <a16:creationId xmlns:a16="http://schemas.microsoft.com/office/drawing/2014/main" id="{6132BBE7-0837-2E5E-247A-605D9FF14E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3953038" y="6113535"/>
            <a:ext cx="319028" cy="319028"/>
          </a:xfrm>
          <a:prstGeom prst="rect">
            <a:avLst/>
          </a:prstGeom>
        </p:spPr>
      </p:pic>
      <p:pic>
        <p:nvPicPr>
          <p:cNvPr id="128" name="Imagen 127" descr="Página 2 | Flecha Curva PNG para descargar gratis">
            <a:extLst>
              <a:ext uri="{FF2B5EF4-FFF2-40B4-BE49-F238E27FC236}">
                <a16:creationId xmlns:a16="http://schemas.microsoft.com/office/drawing/2014/main" id="{F048946C-E10B-83EE-022D-F54BB9C969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904953" flipH="1">
            <a:off x="3737599" y="6480960"/>
            <a:ext cx="292445" cy="292445"/>
          </a:xfrm>
          <a:prstGeom prst="rect">
            <a:avLst/>
          </a:prstGeom>
        </p:spPr>
      </p:pic>
      <p:pic>
        <p:nvPicPr>
          <p:cNvPr id="130" name="Imagen 129" descr="Página 2 | Flecha Curva PNG para descargar gratis">
            <a:extLst>
              <a:ext uri="{FF2B5EF4-FFF2-40B4-BE49-F238E27FC236}">
                <a16:creationId xmlns:a16="http://schemas.microsoft.com/office/drawing/2014/main" id="{6891B73D-3B65-B136-BEB7-0811871151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977163" flipV="1">
            <a:off x="3703715" y="6491720"/>
            <a:ext cx="292352" cy="292352"/>
          </a:xfrm>
          <a:prstGeom prst="rect">
            <a:avLst/>
          </a:prstGeom>
        </p:spPr>
      </p:pic>
      <p:pic>
        <p:nvPicPr>
          <p:cNvPr id="131" name="Imagen 130" descr="Flechas Curvas PNG para descargar gratis">
            <a:extLst>
              <a:ext uri="{FF2B5EF4-FFF2-40B4-BE49-F238E27FC236}">
                <a16:creationId xmlns:a16="http://schemas.microsoft.com/office/drawing/2014/main" id="{E32E9D8D-B2C2-EDF9-8BCA-3DAC66E8F2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4948197" flipV="1">
            <a:off x="3584397" y="7958680"/>
            <a:ext cx="126644" cy="126644"/>
          </a:xfrm>
          <a:prstGeom prst="rect">
            <a:avLst/>
          </a:prstGeom>
        </p:spPr>
      </p:pic>
      <p:pic>
        <p:nvPicPr>
          <p:cNvPr id="135" name="Imagen 134" descr="Flechas Curvas PNG para descargar gratis">
            <a:extLst>
              <a:ext uri="{FF2B5EF4-FFF2-40B4-BE49-F238E27FC236}">
                <a16:creationId xmlns:a16="http://schemas.microsoft.com/office/drawing/2014/main" id="{189D9E0A-9348-DD49-D93F-AB4A95F8CD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4948197" flipV="1">
            <a:off x="3866104" y="8015829"/>
            <a:ext cx="126644" cy="126644"/>
          </a:xfrm>
          <a:prstGeom prst="rect">
            <a:avLst/>
          </a:prstGeom>
        </p:spPr>
      </p:pic>
      <p:pic>
        <p:nvPicPr>
          <p:cNvPr id="137" name="Imagen 136" descr="Flechas Curvas PNG para descargar gratis">
            <a:extLst>
              <a:ext uri="{FF2B5EF4-FFF2-40B4-BE49-F238E27FC236}">
                <a16:creationId xmlns:a16="http://schemas.microsoft.com/office/drawing/2014/main" id="{9DC19141-824E-A7FA-D659-7F31AEBD00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778050">
            <a:off x="4214087" y="8016911"/>
            <a:ext cx="144327" cy="144327"/>
          </a:xfrm>
          <a:prstGeom prst="rect">
            <a:avLst/>
          </a:prstGeom>
        </p:spPr>
      </p:pic>
      <p:pic>
        <p:nvPicPr>
          <p:cNvPr id="141" name="Imagen 140" descr="Flechas Curvas PNG para descargar gratis">
            <a:extLst>
              <a:ext uri="{FF2B5EF4-FFF2-40B4-BE49-F238E27FC236}">
                <a16:creationId xmlns:a16="http://schemas.microsoft.com/office/drawing/2014/main" id="{3B738FBF-0E49-D599-84CC-727585B21B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778050">
            <a:off x="4458290" y="7973288"/>
            <a:ext cx="144327" cy="144327"/>
          </a:xfrm>
          <a:prstGeom prst="rect">
            <a:avLst/>
          </a:prstGeom>
        </p:spPr>
      </p:pic>
      <p:pic>
        <p:nvPicPr>
          <p:cNvPr id="143" name="Imagen 142" descr="Flechas Curvas PNG para descargar gratis">
            <a:extLst>
              <a:ext uri="{FF2B5EF4-FFF2-40B4-BE49-F238E27FC236}">
                <a16:creationId xmlns:a16="http://schemas.microsoft.com/office/drawing/2014/main" id="{FF057925-6F14-2E24-64BB-13C6CFA42C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547430">
            <a:off x="4824913" y="9196221"/>
            <a:ext cx="144327" cy="144327"/>
          </a:xfrm>
          <a:prstGeom prst="rect">
            <a:avLst/>
          </a:prstGeom>
        </p:spPr>
      </p:pic>
      <p:pic>
        <p:nvPicPr>
          <p:cNvPr id="145" name="Imagen 144" descr="Flechas Curvas PNG para descargar gratis">
            <a:extLst>
              <a:ext uri="{FF2B5EF4-FFF2-40B4-BE49-F238E27FC236}">
                <a16:creationId xmlns:a16="http://schemas.microsoft.com/office/drawing/2014/main" id="{FBF670D3-281E-488E-22BE-4197D22A8D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8677572">
            <a:off x="4358667" y="8859289"/>
            <a:ext cx="144327" cy="144327"/>
          </a:xfrm>
          <a:prstGeom prst="rect">
            <a:avLst/>
          </a:prstGeom>
        </p:spPr>
      </p:pic>
      <p:pic>
        <p:nvPicPr>
          <p:cNvPr id="147" name="Imagen 146" descr="Flechas Curvas PNG para descargar gratis">
            <a:extLst>
              <a:ext uri="{FF2B5EF4-FFF2-40B4-BE49-F238E27FC236}">
                <a16:creationId xmlns:a16="http://schemas.microsoft.com/office/drawing/2014/main" id="{D9B73A73-42C9-B21B-E494-0550B17F12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7120000">
            <a:off x="4399785" y="8779459"/>
            <a:ext cx="102040" cy="102040"/>
          </a:xfrm>
          <a:prstGeom prst="rect">
            <a:avLst/>
          </a:prstGeom>
        </p:spPr>
      </p:pic>
      <p:pic>
        <p:nvPicPr>
          <p:cNvPr id="149" name="Imagen 148" descr="Flechas Curvas PNG para descargar gratis">
            <a:extLst>
              <a:ext uri="{FF2B5EF4-FFF2-40B4-BE49-F238E27FC236}">
                <a16:creationId xmlns:a16="http://schemas.microsoft.com/office/drawing/2014/main" id="{7D9246E9-77B4-ADF7-B8EC-BE20083506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112915">
            <a:off x="3899832" y="9144862"/>
            <a:ext cx="144327" cy="144327"/>
          </a:xfrm>
          <a:prstGeom prst="rect">
            <a:avLst/>
          </a:prstGeom>
        </p:spPr>
      </p:pic>
      <p:pic>
        <p:nvPicPr>
          <p:cNvPr id="150" name="Imagen 149" descr="Almacenamiento de archivos - Iconos gratis de archivos y carpetas">
            <a:extLst>
              <a:ext uri="{FF2B5EF4-FFF2-40B4-BE49-F238E27FC236}">
                <a16:creationId xmlns:a16="http://schemas.microsoft.com/office/drawing/2014/main" id="{653D92E0-83AC-39C3-72AA-49CD5E0EEC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161167" y="1656216"/>
            <a:ext cx="561975" cy="561975"/>
          </a:xfrm>
          <a:prstGeom prst="rect">
            <a:avLst/>
          </a:prstGeom>
        </p:spPr>
      </p:pic>
      <p:pic>
        <p:nvPicPr>
          <p:cNvPr id="151" name="Imagen 150" descr="Archivos - Iconos gratis de archivos y carpetas">
            <a:extLst>
              <a:ext uri="{FF2B5EF4-FFF2-40B4-BE49-F238E27FC236}">
                <a16:creationId xmlns:a16="http://schemas.microsoft.com/office/drawing/2014/main" id="{BA142FFD-28DA-6001-6C2F-D1753364EC7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694394" y="2124529"/>
            <a:ext cx="533822" cy="533822"/>
          </a:xfrm>
          <a:prstGeom prst="rect">
            <a:avLst/>
          </a:prstGeom>
        </p:spPr>
      </p:pic>
      <p:pic>
        <p:nvPicPr>
          <p:cNvPr id="152" name="Imagen 151" descr="Icono de Enchufe Generic color lineal-color">
            <a:extLst>
              <a:ext uri="{FF2B5EF4-FFF2-40B4-BE49-F238E27FC236}">
                <a16:creationId xmlns:a16="http://schemas.microsoft.com/office/drawing/2014/main" id="{2A6309FB-99E9-64EE-7743-01DDBAEBCF8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616843" y="3030490"/>
            <a:ext cx="836239" cy="836239"/>
          </a:xfrm>
          <a:prstGeom prst="rect">
            <a:avLst/>
          </a:prstGeom>
        </p:spPr>
      </p:pic>
      <p:pic>
        <p:nvPicPr>
          <p:cNvPr id="153" name="Imagen 152" descr="Empresa - Iconos gratis de negocio">
            <a:extLst>
              <a:ext uri="{FF2B5EF4-FFF2-40B4-BE49-F238E27FC236}">
                <a16:creationId xmlns:a16="http://schemas.microsoft.com/office/drawing/2014/main" id="{4BF13F22-16AF-9603-59C7-DBE451370F9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485149" y="3372304"/>
            <a:ext cx="720106" cy="720106"/>
          </a:xfrm>
          <a:prstGeom prst="rect">
            <a:avLst/>
          </a:prstGeom>
        </p:spPr>
      </p:pic>
      <p:pic>
        <p:nvPicPr>
          <p:cNvPr id="154" name="Imagen 153" descr="Icono De Pincel Png">
            <a:extLst>
              <a:ext uri="{FF2B5EF4-FFF2-40B4-BE49-F238E27FC236}">
                <a16:creationId xmlns:a16="http://schemas.microsoft.com/office/drawing/2014/main" id="{E023223D-B79F-D3BB-66FC-702E35CF72D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0649860">
            <a:off x="13158702" y="4464635"/>
            <a:ext cx="754934" cy="754934"/>
          </a:xfrm>
          <a:prstGeom prst="rect">
            <a:avLst/>
          </a:prstGeom>
        </p:spPr>
      </p:pic>
      <p:pic>
        <p:nvPicPr>
          <p:cNvPr id="155" name="Imagen 154" descr="Escudo de seguridad - Iconos gratis de seguridad">
            <a:extLst>
              <a:ext uri="{FF2B5EF4-FFF2-40B4-BE49-F238E27FC236}">
                <a16:creationId xmlns:a16="http://schemas.microsoft.com/office/drawing/2014/main" id="{9A14B01F-D95D-78A7-4365-8ABACB74D91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524497" y="4943929"/>
            <a:ext cx="658268" cy="658268"/>
          </a:xfrm>
          <a:prstGeom prst="rect">
            <a:avLst/>
          </a:prstGeom>
        </p:spPr>
      </p:pic>
      <p:pic>
        <p:nvPicPr>
          <p:cNvPr id="157" name="Imagen 156" descr="Árboles - Iconos gratis de naturaleza">
            <a:extLst>
              <a:ext uri="{FF2B5EF4-FFF2-40B4-BE49-F238E27FC236}">
                <a16:creationId xmlns:a16="http://schemas.microsoft.com/office/drawing/2014/main" id="{16116E20-C010-4A22-2F38-F6E68F68C99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99349" y="5938979"/>
            <a:ext cx="1054282" cy="871850"/>
          </a:xfrm>
          <a:prstGeom prst="rect">
            <a:avLst/>
          </a:prstGeom>
        </p:spPr>
      </p:pic>
      <p:pic>
        <p:nvPicPr>
          <p:cNvPr id="158" name="Imagen 157" descr="Notification - Free ui icons">
            <a:extLst>
              <a:ext uri="{FF2B5EF4-FFF2-40B4-BE49-F238E27FC236}">
                <a16:creationId xmlns:a16="http://schemas.microsoft.com/office/drawing/2014/main" id="{92DAB1B6-C317-5E11-6D4A-C18E579B7AC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928569" y="7174214"/>
            <a:ext cx="709311" cy="709311"/>
          </a:xfrm>
          <a:prstGeom prst="rect">
            <a:avLst/>
          </a:prstGeom>
        </p:spPr>
      </p:pic>
      <p:pic>
        <p:nvPicPr>
          <p:cNvPr id="159" name="Imagen 158" descr="Mensajes - Iconos gratis de web">
            <a:extLst>
              <a:ext uri="{FF2B5EF4-FFF2-40B4-BE49-F238E27FC236}">
                <a16:creationId xmlns:a16="http://schemas.microsoft.com/office/drawing/2014/main" id="{68F6DE75-C955-D834-C636-7A4B0ECDD2C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614785" y="7593236"/>
            <a:ext cx="613811" cy="613811"/>
          </a:xfrm>
          <a:prstGeom prst="rect">
            <a:avLst/>
          </a:prstGeom>
        </p:spPr>
      </p:pic>
      <p:pic>
        <p:nvPicPr>
          <p:cNvPr id="160" name="Imagen 159" descr="Ajustes - Iconos gratis de herramientas y utensilios">
            <a:extLst>
              <a:ext uri="{FF2B5EF4-FFF2-40B4-BE49-F238E27FC236}">
                <a16:creationId xmlns:a16="http://schemas.microsoft.com/office/drawing/2014/main" id="{9517EDD5-B54E-0048-AAF0-E3785B0EB5F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008594" y="8411029"/>
            <a:ext cx="685800" cy="685800"/>
          </a:xfrm>
          <a:prstGeom prst="rect">
            <a:avLst/>
          </a:prstGeom>
        </p:spPr>
      </p:pic>
      <p:pic>
        <p:nvPicPr>
          <p:cNvPr id="161" name="Imagen 160" descr="Repetir - Iconos gratis de flechas">
            <a:extLst>
              <a:ext uri="{FF2B5EF4-FFF2-40B4-BE49-F238E27FC236}">
                <a16:creationId xmlns:a16="http://schemas.microsoft.com/office/drawing/2014/main" id="{1B90C990-858C-2867-4633-D3FC43B0BCF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flipH="1">
            <a:off x="13596938" y="8786383"/>
            <a:ext cx="620168" cy="620168"/>
          </a:xfrm>
          <a:prstGeom prst="rect">
            <a:avLst/>
          </a:prstGeom>
        </p:spPr>
      </p:pic>
      <p:pic>
        <p:nvPicPr>
          <p:cNvPr id="162" name="Imagen 161" descr="Ajustes Configuración Icono - Gráficos vectoriales gratis en Pixabay ...">
            <a:extLst>
              <a:ext uri="{FF2B5EF4-FFF2-40B4-BE49-F238E27FC236}">
                <a16:creationId xmlns:a16="http://schemas.microsoft.com/office/drawing/2014/main" id="{2AE9E3A8-5E03-0162-D796-42044CBD175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993643" y="339393"/>
            <a:ext cx="1037744" cy="861814"/>
          </a:xfrm>
          <a:prstGeom prst="rect">
            <a:avLst/>
          </a:prstGeom>
        </p:spPr>
      </p:pic>
      <p:sp>
        <p:nvSpPr>
          <p:cNvPr id="164" name="Nube pequeña">
            <a:extLst>
              <a:ext uri="{FF2B5EF4-FFF2-40B4-BE49-F238E27FC236}">
                <a16:creationId xmlns:a16="http://schemas.microsoft.com/office/drawing/2014/main" id="{01109462-EC5F-DCB1-1EDF-A49BE2F05B3E}"/>
              </a:ext>
            </a:extLst>
          </p:cNvPr>
          <p:cNvSpPr/>
          <p:nvPr/>
        </p:nvSpPr>
        <p:spPr>
          <a:xfrm>
            <a:off x="6561862" y="12985298"/>
            <a:ext cx="1809750" cy="1047750"/>
          </a:xfrm>
          <a:prstGeom prst="cloud">
            <a:avLst/>
          </a:prstGeom>
          <a:solidFill>
            <a:srgbClr val="E6DCFF"/>
          </a:solidFill>
          <a:ln w="19050">
            <a:solidFill>
              <a:srgbClr val="A78BFA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>
                <a:solidFill>
                  <a:srgbClr val="4B3FA0"/>
                </a:solidFill>
                <a:latin typeface="Arial" pitchFamily="34" charset="0"/>
                <a:cs typeface="Arial" pitchFamily="34" charset="-120"/>
              </a:rPr>
              <a:t>Patrones</a:t>
            </a:r>
            <a:r>
              <a:rPr lang="en-US" sz="1200" b="1" dirty="0">
                <a:solidFill>
                  <a:srgbClr val="4B3FA0"/>
                </a:solidFill>
                <a:latin typeface="Arial" pitchFamily="34" charset="0"/>
                <a:cs typeface="Arial" pitchFamily="34" charset="-120"/>
              </a:rPr>
              <a:t> de </a:t>
            </a:r>
            <a:r>
              <a:rPr lang="en-US" sz="1200" b="1" dirty="0" err="1">
                <a:solidFill>
                  <a:srgbClr val="4B3FA0"/>
                </a:solidFill>
                <a:latin typeface="Arial" pitchFamily="34" charset="0"/>
                <a:cs typeface="Arial" pitchFamily="34" charset="-120"/>
              </a:rPr>
              <a:t>diseño</a:t>
            </a:r>
            <a:endParaRPr lang="en-US" sz="1200" dirty="0"/>
          </a:p>
        </p:txBody>
      </p:sp>
      <p:sp>
        <p:nvSpPr>
          <p:cNvPr id="96" name="Tarjeta 108">
            <a:extLst>
              <a:ext uri="{FF2B5EF4-FFF2-40B4-BE49-F238E27FC236}">
                <a16:creationId xmlns:a16="http://schemas.microsoft.com/office/drawing/2014/main" id="{0172B99C-2425-DB53-C552-217E490688A0}"/>
              </a:ext>
            </a:extLst>
          </p:cNvPr>
          <p:cNvSpPr/>
          <p:nvPr/>
        </p:nvSpPr>
        <p:spPr>
          <a:xfrm>
            <a:off x="228600" y="9912351"/>
            <a:ext cx="4933950" cy="1238250"/>
          </a:xfrm>
          <a:prstGeom prst="roundRect">
            <a:avLst>
              <a:gd name="adj" fmla="val 16246"/>
            </a:avLst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97" name="Text 121">
            <a:extLst>
              <a:ext uri="{FF2B5EF4-FFF2-40B4-BE49-F238E27FC236}">
                <a16:creationId xmlns:a16="http://schemas.microsoft.com/office/drawing/2014/main" id="{88AEAF28-4CB1-0FE9-2D47-D00520E13105}"/>
              </a:ext>
            </a:extLst>
          </p:cNvPr>
          <p:cNvSpPr txBox="1"/>
          <p:nvPr/>
        </p:nvSpPr>
        <p:spPr>
          <a:xfrm>
            <a:off x="476250" y="10045701"/>
            <a:ext cx="4133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b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Arquitectura dirigida por eventos</a:t>
            </a:r>
            <a:endParaRPr lang="en-US" sz="1350" dirty="0">
              <a:solidFill>
                <a:srgbClr val="FFC000"/>
              </a:solidFill>
            </a:endParaRPr>
          </a:p>
        </p:txBody>
      </p:sp>
      <p:sp>
        <p:nvSpPr>
          <p:cNvPr id="98" name="Text 122">
            <a:extLst>
              <a:ext uri="{FF2B5EF4-FFF2-40B4-BE49-F238E27FC236}">
                <a16:creationId xmlns:a16="http://schemas.microsoft.com/office/drawing/2014/main" id="{BF7EEC68-47E0-572A-F807-B894139FBCA3}"/>
              </a:ext>
            </a:extLst>
          </p:cNvPr>
          <p:cNvSpPr txBox="1"/>
          <p:nvPr/>
        </p:nvSpPr>
        <p:spPr>
          <a:xfrm>
            <a:off x="516255" y="10312401"/>
            <a:ext cx="30956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componentes se comunican produciendo y reaccionando a eventos.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sistemas desacoplados y asíncronos.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una tienda en línea que genera el evento “pedido creado” para avisar a inventario y pagos.</a:t>
            </a:r>
            <a:endParaRPr lang="en-US" sz="1000" dirty="0"/>
          </a:p>
        </p:txBody>
      </p:sp>
      <p:sp>
        <p:nvSpPr>
          <p:cNvPr id="99" name="Tarjeta 109">
            <a:extLst>
              <a:ext uri="{FF2B5EF4-FFF2-40B4-BE49-F238E27FC236}">
                <a16:creationId xmlns:a16="http://schemas.microsoft.com/office/drawing/2014/main" id="{788EED29-2230-B457-48BD-140B375A9878}"/>
              </a:ext>
            </a:extLst>
          </p:cNvPr>
          <p:cNvSpPr/>
          <p:nvPr/>
        </p:nvSpPr>
        <p:spPr>
          <a:xfrm>
            <a:off x="228600" y="11303001"/>
            <a:ext cx="4573905" cy="1238250"/>
          </a:xfrm>
          <a:prstGeom prst="roundRect">
            <a:avLst>
              <a:gd name="adj" fmla="val 16246"/>
            </a:avLst>
          </a:prstGeom>
          <a:solidFill>
            <a:srgbClr val="E8FAFA"/>
          </a:solidFill>
          <a:ln w="28575">
            <a:solidFill>
              <a:srgbClr val="4CC3D9"/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00" name="Text 124">
            <a:extLst>
              <a:ext uri="{FF2B5EF4-FFF2-40B4-BE49-F238E27FC236}">
                <a16:creationId xmlns:a16="http://schemas.microsoft.com/office/drawing/2014/main" id="{76DA3556-A939-9B42-E73C-D8CCF2BCEF68}"/>
              </a:ext>
            </a:extLst>
          </p:cNvPr>
          <p:cNvSpPr txBox="1"/>
          <p:nvPr/>
        </p:nvSpPr>
        <p:spPr>
          <a:xfrm>
            <a:off x="516255" y="11379201"/>
            <a:ext cx="4133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b="1" dirty="0">
                <a:solidFill>
                  <a:srgbClr val="168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Arquitectura serverless</a:t>
            </a:r>
            <a:endParaRPr lang="en-US" sz="1350" dirty="0"/>
          </a:p>
        </p:txBody>
      </p:sp>
      <p:sp>
        <p:nvSpPr>
          <p:cNvPr id="101" name="Text 125">
            <a:extLst>
              <a:ext uri="{FF2B5EF4-FFF2-40B4-BE49-F238E27FC236}">
                <a16:creationId xmlns:a16="http://schemas.microsoft.com/office/drawing/2014/main" id="{A12928A0-0624-81F6-B81C-29B442697C3B}"/>
              </a:ext>
            </a:extLst>
          </p:cNvPr>
          <p:cNvSpPr txBox="1"/>
          <p:nvPr/>
        </p:nvSpPr>
        <p:spPr>
          <a:xfrm>
            <a:off x="516255" y="11645901"/>
            <a:ext cx="30956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proveedor en la nube administra los servidores; solo se escribe el código de las funciones.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paga por uso y escala automáticamente.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una función que redimensiona imágenes al subirlas.</a:t>
            </a:r>
            <a:endParaRPr lang="en-US" sz="1000" dirty="0"/>
          </a:p>
        </p:txBody>
      </p:sp>
      <p:sp>
        <p:nvSpPr>
          <p:cNvPr id="102" name="Tarjeta 110">
            <a:extLst>
              <a:ext uri="{FF2B5EF4-FFF2-40B4-BE49-F238E27FC236}">
                <a16:creationId xmlns:a16="http://schemas.microsoft.com/office/drawing/2014/main" id="{82591897-CC33-5C83-8AD1-09834DDB5EC5}"/>
              </a:ext>
            </a:extLst>
          </p:cNvPr>
          <p:cNvSpPr/>
          <p:nvPr/>
        </p:nvSpPr>
        <p:spPr>
          <a:xfrm>
            <a:off x="228600" y="12636501"/>
            <a:ext cx="4573905" cy="1352550"/>
          </a:xfrm>
          <a:prstGeom prst="roundRect">
            <a:avLst>
              <a:gd name="adj" fmla="val 14873"/>
            </a:avLst>
          </a:prstGeom>
          <a:solidFill>
            <a:srgbClr val="EFFAF1"/>
          </a:solidFill>
          <a:ln w="28575">
            <a:solidFill>
              <a:srgbClr val="5FCF86"/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03" name="Text 127">
            <a:extLst>
              <a:ext uri="{FF2B5EF4-FFF2-40B4-BE49-F238E27FC236}">
                <a16:creationId xmlns:a16="http://schemas.microsoft.com/office/drawing/2014/main" id="{E0E15100-60D0-7D05-8387-3ADEA1BD6B84}"/>
              </a:ext>
            </a:extLst>
          </p:cNvPr>
          <p:cNvSpPr txBox="1"/>
          <p:nvPr/>
        </p:nvSpPr>
        <p:spPr>
          <a:xfrm>
            <a:off x="516255" y="12712701"/>
            <a:ext cx="4133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b="1" dirty="0">
                <a:solidFill>
                  <a:srgbClr val="1F8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Arquitectura limpia (Clean Architecture)</a:t>
            </a:r>
            <a:endParaRPr lang="en-US" sz="1350" dirty="0"/>
          </a:p>
        </p:txBody>
      </p:sp>
      <p:sp>
        <p:nvSpPr>
          <p:cNvPr id="104" name="Text 128">
            <a:extLst>
              <a:ext uri="{FF2B5EF4-FFF2-40B4-BE49-F238E27FC236}">
                <a16:creationId xmlns:a16="http://schemas.microsoft.com/office/drawing/2014/main" id="{5A071266-4587-7CBC-30F9-B9EDE3ABEA21}"/>
              </a:ext>
            </a:extLst>
          </p:cNvPr>
          <p:cNvSpPr txBox="1"/>
          <p:nvPr/>
        </p:nvSpPr>
        <p:spPr>
          <a:xfrm>
            <a:off x="360046" y="12956865"/>
            <a:ext cx="308599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 el código en círculos concéntricos; las dependencias apuntan hacia las reglas de negocio.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independiente de frameworks, base de datos e interfaz.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casos de uso que funcionan igual con una app web o móvil.</a:t>
            </a:r>
            <a:endParaRPr lang="en-US" sz="1000" dirty="0"/>
          </a:p>
        </p:txBody>
      </p:sp>
      <p:sp>
        <p:nvSpPr>
          <p:cNvPr id="113" name="Shape 6">
            <a:extLst>
              <a:ext uri="{FF2B5EF4-FFF2-40B4-BE49-F238E27FC236}">
                <a16:creationId xmlns:a16="http://schemas.microsoft.com/office/drawing/2014/main" id="{599C6814-45CA-6D8D-617B-D18C159B8659}"/>
              </a:ext>
            </a:extLst>
          </p:cNvPr>
          <p:cNvSpPr/>
          <p:nvPr/>
        </p:nvSpPr>
        <p:spPr>
          <a:xfrm>
            <a:off x="4802505" y="7650856"/>
            <a:ext cx="1822132" cy="5858317"/>
          </a:xfrm>
          <a:custGeom>
            <a:avLst/>
            <a:gdLst/>
            <a:ahLst/>
            <a:cxnLst/>
            <a:rect l="l" t="t" r="r" b="b"/>
            <a:pathLst>
              <a:path w="609600" h="3048000">
                <a:moveTo>
                  <a:pt x="609600" y="0"/>
                </a:moveTo>
                <a:cubicBezTo>
                  <a:pt x="514350" y="1905000"/>
                  <a:pt x="323850" y="2476500"/>
                  <a:pt x="0" y="3048000"/>
                </a:cubicBezTo>
              </a:path>
            </a:pathLst>
          </a:cu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/>
          <a:lstStyle/>
          <a:p>
            <a:endParaRPr lang="es-CO"/>
          </a:p>
        </p:txBody>
      </p:sp>
      <p:sp>
        <p:nvSpPr>
          <p:cNvPr id="115" name="Shape 6">
            <a:extLst>
              <a:ext uri="{FF2B5EF4-FFF2-40B4-BE49-F238E27FC236}">
                <a16:creationId xmlns:a16="http://schemas.microsoft.com/office/drawing/2014/main" id="{AF144D48-DCDD-A045-F516-7A046A72349F}"/>
              </a:ext>
            </a:extLst>
          </p:cNvPr>
          <p:cNvSpPr/>
          <p:nvPr/>
        </p:nvSpPr>
        <p:spPr>
          <a:xfrm>
            <a:off x="4790466" y="7582750"/>
            <a:ext cx="1645981" cy="4337562"/>
          </a:xfrm>
          <a:custGeom>
            <a:avLst/>
            <a:gdLst/>
            <a:ahLst/>
            <a:cxnLst/>
            <a:rect l="l" t="t" r="r" b="b"/>
            <a:pathLst>
              <a:path w="609600" h="3048000">
                <a:moveTo>
                  <a:pt x="609600" y="0"/>
                </a:moveTo>
                <a:cubicBezTo>
                  <a:pt x="514350" y="1905000"/>
                  <a:pt x="323850" y="2476500"/>
                  <a:pt x="0" y="3048000"/>
                </a:cubicBezTo>
              </a:path>
            </a:pathLst>
          </a:cu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/>
          <a:lstStyle/>
          <a:p>
            <a:endParaRPr lang="es-CO"/>
          </a:p>
        </p:txBody>
      </p:sp>
      <p:sp>
        <p:nvSpPr>
          <p:cNvPr id="120" name="Shape 6">
            <a:extLst>
              <a:ext uri="{FF2B5EF4-FFF2-40B4-BE49-F238E27FC236}">
                <a16:creationId xmlns:a16="http://schemas.microsoft.com/office/drawing/2014/main" id="{40BD5640-D528-C992-8C9E-E44E597CECE3}"/>
              </a:ext>
            </a:extLst>
          </p:cNvPr>
          <p:cNvSpPr/>
          <p:nvPr/>
        </p:nvSpPr>
        <p:spPr>
          <a:xfrm>
            <a:off x="5162550" y="7572829"/>
            <a:ext cx="1047748" cy="3109685"/>
          </a:xfrm>
          <a:custGeom>
            <a:avLst/>
            <a:gdLst/>
            <a:ahLst/>
            <a:cxnLst/>
            <a:rect l="l" t="t" r="r" b="b"/>
            <a:pathLst>
              <a:path w="609600" h="3048000">
                <a:moveTo>
                  <a:pt x="609600" y="0"/>
                </a:moveTo>
                <a:cubicBezTo>
                  <a:pt x="514350" y="1905000"/>
                  <a:pt x="323850" y="2476500"/>
                  <a:pt x="0" y="3048000"/>
                </a:cubicBezTo>
              </a:path>
            </a:pathLst>
          </a:cu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s-CO"/>
          </a:p>
        </p:txBody>
      </p:sp>
      <p:pic>
        <p:nvPicPr>
          <p:cNvPr id="129" name="Imagen 128" descr="Kafka Event-Driven Architecture - Tpoint Tech">
            <a:extLst>
              <a:ext uri="{FF2B5EF4-FFF2-40B4-BE49-F238E27FC236}">
                <a16:creationId xmlns:a16="http://schemas.microsoft.com/office/drawing/2014/main" id="{5EF4CC13-95C7-F003-D0BC-D8CB8B93E0C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530135" y="10120671"/>
            <a:ext cx="1493652" cy="921086"/>
          </a:xfrm>
          <a:prstGeom prst="rect">
            <a:avLst/>
          </a:prstGeom>
        </p:spPr>
      </p:pic>
      <p:pic>
        <p:nvPicPr>
          <p:cNvPr id="132" name="Imagen 131" descr="What is Serverless Computing? | OVHcloud UK">
            <a:extLst>
              <a:ext uri="{FF2B5EF4-FFF2-40B4-BE49-F238E27FC236}">
                <a16:creationId xmlns:a16="http://schemas.microsoft.com/office/drawing/2014/main" id="{851893E1-15AA-1B0B-2C22-99FAACA5A92A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446036" y="11431970"/>
            <a:ext cx="1413728" cy="1060296"/>
          </a:xfrm>
          <a:prstGeom prst="rect">
            <a:avLst/>
          </a:prstGeom>
        </p:spPr>
      </p:pic>
      <p:pic>
        <p:nvPicPr>
          <p:cNvPr id="133" name="Imagen 132" descr="Que Es Clean Architecture at William Fetters blog">
            <a:extLst>
              <a:ext uri="{FF2B5EF4-FFF2-40B4-BE49-F238E27FC236}">
                <a16:creationId xmlns:a16="http://schemas.microsoft.com/office/drawing/2014/main" id="{8ED768F9-06DB-8331-74DD-E0C1B8564A4F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674269" y="12982264"/>
            <a:ext cx="881064" cy="873891"/>
          </a:xfrm>
          <a:prstGeom prst="rect">
            <a:avLst/>
          </a:prstGeom>
        </p:spPr>
      </p:pic>
      <p:sp>
        <p:nvSpPr>
          <p:cNvPr id="134" name="Tarjeta 118">
            <a:extLst>
              <a:ext uri="{FF2B5EF4-FFF2-40B4-BE49-F238E27FC236}">
                <a16:creationId xmlns:a16="http://schemas.microsoft.com/office/drawing/2014/main" id="{F80783EA-0949-38FC-2C2D-3CF807BF8E73}"/>
              </a:ext>
            </a:extLst>
          </p:cNvPr>
          <p:cNvSpPr/>
          <p:nvPr/>
        </p:nvSpPr>
        <p:spPr>
          <a:xfrm>
            <a:off x="8415336" y="9655175"/>
            <a:ext cx="5986463" cy="1276350"/>
          </a:xfrm>
          <a:prstGeom prst="roundRect">
            <a:avLst>
              <a:gd name="adj" fmla="val 15761"/>
            </a:avLst>
          </a:prstGeom>
          <a:solidFill>
            <a:srgbClr val="FFF8E1"/>
          </a:solidFill>
          <a:ln w="28575">
            <a:solidFill>
              <a:srgbClr val="F5C84A"/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36" name="Text 130">
            <a:extLst>
              <a:ext uri="{FF2B5EF4-FFF2-40B4-BE49-F238E27FC236}">
                <a16:creationId xmlns:a16="http://schemas.microsoft.com/office/drawing/2014/main" id="{71D0D342-15E5-10E3-C551-C0B251DE5DC3}"/>
              </a:ext>
            </a:extLst>
          </p:cNvPr>
          <p:cNvSpPr txBox="1"/>
          <p:nvPr/>
        </p:nvSpPr>
        <p:spPr>
          <a:xfrm>
            <a:off x="8567737" y="9731375"/>
            <a:ext cx="537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 Command y Chain of Responsibility</a:t>
            </a:r>
            <a:endParaRPr lang="en-US" sz="1350" dirty="0"/>
          </a:p>
        </p:txBody>
      </p:sp>
      <p:sp>
        <p:nvSpPr>
          <p:cNvPr id="138" name="Text 131">
            <a:extLst>
              <a:ext uri="{FF2B5EF4-FFF2-40B4-BE49-F238E27FC236}">
                <a16:creationId xmlns:a16="http://schemas.microsoft.com/office/drawing/2014/main" id="{B6C57497-08FF-1371-C9D5-67FD89E04D20}"/>
              </a:ext>
            </a:extLst>
          </p:cNvPr>
          <p:cNvSpPr txBox="1"/>
          <p:nvPr/>
        </p:nvSpPr>
        <p:spPr>
          <a:xfrm>
            <a:off x="8567737" y="9998075"/>
            <a:ext cx="23812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Convierte una acción en un objeto que se puede ejecutar, guardar o deshacer.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el botón “deshacer” de un editor.</a:t>
            </a:r>
            <a:endParaRPr lang="en-US" sz="1000" dirty="0"/>
          </a:p>
        </p:txBody>
      </p:sp>
      <p:sp>
        <p:nvSpPr>
          <p:cNvPr id="139" name="Text 132">
            <a:extLst>
              <a:ext uri="{FF2B5EF4-FFF2-40B4-BE49-F238E27FC236}">
                <a16:creationId xmlns:a16="http://schemas.microsoft.com/office/drawing/2014/main" id="{E89A4304-5F32-64AE-B6BA-DF04BBC7A2E9}"/>
              </a:ext>
            </a:extLst>
          </p:cNvPr>
          <p:cNvSpPr txBox="1"/>
          <p:nvPr/>
        </p:nvSpPr>
        <p:spPr>
          <a:xfrm>
            <a:off x="11044237" y="9998075"/>
            <a:ext cx="23812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of Responsibility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 una solicitud por una cadena de manejadores hasta que uno la atiende.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aprobar un gasto entre jefe, gerente y director.</a:t>
            </a:r>
            <a:endParaRPr lang="en-US" sz="1000" dirty="0"/>
          </a:p>
        </p:txBody>
      </p:sp>
      <p:sp>
        <p:nvSpPr>
          <p:cNvPr id="140" name="Tarjeta 119">
            <a:extLst>
              <a:ext uri="{FF2B5EF4-FFF2-40B4-BE49-F238E27FC236}">
                <a16:creationId xmlns:a16="http://schemas.microsoft.com/office/drawing/2014/main" id="{F12E0577-4F85-4709-E4EF-C0463CEA7286}"/>
              </a:ext>
            </a:extLst>
          </p:cNvPr>
          <p:cNvSpPr/>
          <p:nvPr/>
        </p:nvSpPr>
        <p:spPr>
          <a:xfrm>
            <a:off x="8415336" y="11064875"/>
            <a:ext cx="5935663" cy="1276350"/>
          </a:xfrm>
          <a:prstGeom prst="roundRect">
            <a:avLst>
              <a:gd name="adj" fmla="val 15761"/>
            </a:avLst>
          </a:prstGeom>
          <a:solidFill>
            <a:srgbClr val="FFF0F4"/>
          </a:solidFill>
          <a:ln w="28575">
            <a:solidFill>
              <a:srgbClr val="F5799C"/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42" name="Text 134">
            <a:extLst>
              <a:ext uri="{FF2B5EF4-FFF2-40B4-BE49-F238E27FC236}">
                <a16:creationId xmlns:a16="http://schemas.microsoft.com/office/drawing/2014/main" id="{05E56407-FCAD-0FA6-65A9-9509F791A2A3}"/>
              </a:ext>
            </a:extLst>
          </p:cNvPr>
          <p:cNvSpPr txBox="1"/>
          <p:nvPr/>
        </p:nvSpPr>
        <p:spPr>
          <a:xfrm>
            <a:off x="8567737" y="11141075"/>
            <a:ext cx="537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 Iterator, Memento e Interpreter</a:t>
            </a:r>
            <a:endParaRPr lang="en-US" sz="1350" dirty="0"/>
          </a:p>
        </p:txBody>
      </p:sp>
      <p:sp>
        <p:nvSpPr>
          <p:cNvPr id="144" name="Text 135">
            <a:extLst>
              <a:ext uri="{FF2B5EF4-FFF2-40B4-BE49-F238E27FC236}">
                <a16:creationId xmlns:a16="http://schemas.microsoft.com/office/drawing/2014/main" id="{D7F95FFA-6CB8-E39B-24C2-5A1A499A426F}"/>
              </a:ext>
            </a:extLst>
          </p:cNvPr>
          <p:cNvSpPr txBox="1"/>
          <p:nvPr/>
        </p:nvSpPr>
        <p:spPr>
          <a:xfrm>
            <a:off x="8567737" y="11407775"/>
            <a:ext cx="15557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Iterator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Recorre los elementos de una colección sin exponer su estructura.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recorrer una lista de productos.</a:t>
            </a:r>
            <a:endParaRPr lang="en-US" sz="1000" dirty="0"/>
          </a:p>
        </p:txBody>
      </p:sp>
      <p:sp>
        <p:nvSpPr>
          <p:cNvPr id="146" name="Text 136">
            <a:extLst>
              <a:ext uri="{FF2B5EF4-FFF2-40B4-BE49-F238E27FC236}">
                <a16:creationId xmlns:a16="http://schemas.microsoft.com/office/drawing/2014/main" id="{796B3503-C4E2-4BF2-4C7E-7721BC007099}"/>
              </a:ext>
            </a:extLst>
          </p:cNvPr>
          <p:cNvSpPr txBox="1"/>
          <p:nvPr/>
        </p:nvSpPr>
        <p:spPr>
          <a:xfrm>
            <a:off x="10218737" y="11407775"/>
            <a:ext cx="15557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Memento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y restaura el estado anterior de un objeto.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deshacer cambios en un documento.</a:t>
            </a:r>
            <a:endParaRPr lang="en-US" sz="1000" dirty="0"/>
          </a:p>
        </p:txBody>
      </p:sp>
      <p:sp>
        <p:nvSpPr>
          <p:cNvPr id="148" name="Text 137">
            <a:extLst>
              <a:ext uri="{FF2B5EF4-FFF2-40B4-BE49-F238E27FC236}">
                <a16:creationId xmlns:a16="http://schemas.microsoft.com/office/drawing/2014/main" id="{9D9BCA6F-8F62-26DF-36AA-72F9F4F001B5}"/>
              </a:ext>
            </a:extLst>
          </p:cNvPr>
          <p:cNvSpPr txBox="1"/>
          <p:nvPr/>
        </p:nvSpPr>
        <p:spPr>
          <a:xfrm>
            <a:off x="11869737" y="11407775"/>
            <a:ext cx="15557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Interpreter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una gramática y evalúa expresiones.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calcular una fórmula escrita como texto.</a:t>
            </a:r>
            <a:endParaRPr lang="en-US" sz="1000" dirty="0"/>
          </a:p>
        </p:txBody>
      </p:sp>
      <p:sp>
        <p:nvSpPr>
          <p:cNvPr id="156" name="Tarjeta 120">
            <a:extLst>
              <a:ext uri="{FF2B5EF4-FFF2-40B4-BE49-F238E27FC236}">
                <a16:creationId xmlns:a16="http://schemas.microsoft.com/office/drawing/2014/main" id="{F530324E-A87C-F1F0-32AD-5D53371C4ABA}"/>
              </a:ext>
            </a:extLst>
          </p:cNvPr>
          <p:cNvSpPr/>
          <p:nvPr/>
        </p:nvSpPr>
        <p:spPr>
          <a:xfrm>
            <a:off x="8415337" y="12474575"/>
            <a:ext cx="5935662" cy="1162050"/>
          </a:xfrm>
          <a:prstGeom prst="roundRect">
            <a:avLst>
              <a:gd name="adj" fmla="val 17311"/>
            </a:avLst>
          </a:prstGeom>
          <a:solidFill>
            <a:srgbClr val="E9F6FF"/>
          </a:solidFill>
          <a:ln w="28575">
            <a:solidFill>
              <a:srgbClr val="5AA9F0"/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63" name="Text 139">
            <a:extLst>
              <a:ext uri="{FF2B5EF4-FFF2-40B4-BE49-F238E27FC236}">
                <a16:creationId xmlns:a16="http://schemas.microsoft.com/office/drawing/2014/main" id="{4EB952E3-BE68-E22D-9742-486B16F432E0}"/>
              </a:ext>
            </a:extLst>
          </p:cNvPr>
          <p:cNvSpPr txBox="1"/>
          <p:nvPr/>
        </p:nvSpPr>
        <p:spPr>
          <a:xfrm>
            <a:off x="8567737" y="12550775"/>
            <a:ext cx="537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b="1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 Template Method y Visitor</a:t>
            </a:r>
            <a:endParaRPr lang="en-US" sz="1350" dirty="0"/>
          </a:p>
        </p:txBody>
      </p:sp>
      <p:sp>
        <p:nvSpPr>
          <p:cNvPr id="165" name="Text 140">
            <a:extLst>
              <a:ext uri="{FF2B5EF4-FFF2-40B4-BE49-F238E27FC236}">
                <a16:creationId xmlns:a16="http://schemas.microsoft.com/office/drawing/2014/main" id="{2C892572-8B04-9CDA-3649-2150EB1CDDF0}"/>
              </a:ext>
            </a:extLst>
          </p:cNvPr>
          <p:cNvSpPr txBox="1"/>
          <p:nvPr/>
        </p:nvSpPr>
        <p:spPr>
          <a:xfrm>
            <a:off x="8567737" y="12817475"/>
            <a:ext cx="2381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Method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el esqueleto de un algoritmo y deja pasos a las subclases.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preparar bebidas (hervir agua, preparar, servir).</a:t>
            </a:r>
            <a:endParaRPr lang="en-US" sz="1000" dirty="0"/>
          </a:p>
        </p:txBody>
      </p:sp>
      <p:sp>
        <p:nvSpPr>
          <p:cNvPr id="166" name="Text 141">
            <a:extLst>
              <a:ext uri="{FF2B5EF4-FFF2-40B4-BE49-F238E27FC236}">
                <a16:creationId xmlns:a16="http://schemas.microsoft.com/office/drawing/2014/main" id="{50702681-1A95-6875-C5CF-4667DB750723}"/>
              </a:ext>
            </a:extLst>
          </p:cNvPr>
          <p:cNvSpPr txBox="1"/>
          <p:nvPr/>
        </p:nvSpPr>
        <p:spPr>
          <a:xfrm>
            <a:off x="11044237" y="12817475"/>
            <a:ext cx="2381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Visitor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 operaciones a objetos sin modificarlos.</a:t>
            </a:r>
            <a:endParaRPr lang="en-US" sz="1000" dirty="0"/>
          </a:p>
          <a:p>
            <a:pPr marL="114300" indent="-1143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B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exportar distintas figuras a PDF o XML.</a:t>
            </a:r>
            <a:endParaRPr lang="en-US" sz="1000" dirty="0"/>
          </a:p>
        </p:txBody>
      </p:sp>
      <p:sp>
        <p:nvSpPr>
          <p:cNvPr id="171" name="Shape 10">
            <a:extLst>
              <a:ext uri="{FF2B5EF4-FFF2-40B4-BE49-F238E27FC236}">
                <a16:creationId xmlns:a16="http://schemas.microsoft.com/office/drawing/2014/main" id="{F9EAA0A1-A4CB-DEEA-8E4B-2114BFED8533}"/>
              </a:ext>
            </a:extLst>
          </p:cNvPr>
          <p:cNvSpPr/>
          <p:nvPr/>
        </p:nvSpPr>
        <p:spPr>
          <a:xfrm>
            <a:off x="7074624" y="7593235"/>
            <a:ext cx="1340714" cy="2690589"/>
          </a:xfrm>
          <a:custGeom>
            <a:avLst/>
            <a:gdLst/>
            <a:ahLst/>
            <a:cxnLst/>
            <a:rect l="l" t="t" r="r" b="b"/>
            <a:pathLst>
              <a:path w="476250" h="285750">
                <a:moveTo>
                  <a:pt x="0" y="0"/>
                </a:moveTo>
                <a:cubicBezTo>
                  <a:pt x="190500" y="190500"/>
                  <a:pt x="285750" y="285750"/>
                  <a:pt x="476250" y="285750"/>
                </a:cubicBezTo>
              </a:path>
            </a:pathLst>
          </a:custGeom>
          <a:ln w="28575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3" name="Shape 6">
            <a:extLst>
              <a:ext uri="{FF2B5EF4-FFF2-40B4-BE49-F238E27FC236}">
                <a16:creationId xmlns:a16="http://schemas.microsoft.com/office/drawing/2014/main" id="{9AB00B90-075F-0534-14FF-F80F545902C7}"/>
              </a:ext>
            </a:extLst>
          </p:cNvPr>
          <p:cNvSpPr/>
          <p:nvPr/>
        </p:nvSpPr>
        <p:spPr>
          <a:xfrm rot="10800000" flipV="1">
            <a:off x="6934197" y="7572830"/>
            <a:ext cx="1481139" cy="3859140"/>
          </a:xfrm>
          <a:custGeom>
            <a:avLst/>
            <a:gdLst/>
            <a:ahLst/>
            <a:cxnLst/>
            <a:rect l="l" t="t" r="r" b="b"/>
            <a:pathLst>
              <a:path w="609600" h="3048000">
                <a:moveTo>
                  <a:pt x="609600" y="0"/>
                </a:moveTo>
                <a:cubicBezTo>
                  <a:pt x="514350" y="1905000"/>
                  <a:pt x="323850" y="2476500"/>
                  <a:pt x="0" y="3048000"/>
                </a:cubicBezTo>
              </a:path>
            </a:pathLst>
          </a:custGeom>
          <a:ln w="28575">
            <a:solidFill>
              <a:srgbClr val="F06F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7" name="Shape 8">
            <a:extLst>
              <a:ext uri="{FF2B5EF4-FFF2-40B4-BE49-F238E27FC236}">
                <a16:creationId xmlns:a16="http://schemas.microsoft.com/office/drawing/2014/main" id="{03CE98C3-C891-A0C5-ED74-3583F239CEDC}"/>
              </a:ext>
            </a:extLst>
          </p:cNvPr>
          <p:cNvSpPr/>
          <p:nvPr/>
        </p:nvSpPr>
        <p:spPr>
          <a:xfrm rot="10800000" flipH="1">
            <a:off x="6870839" y="7712073"/>
            <a:ext cx="1544497" cy="5394325"/>
          </a:xfrm>
          <a:custGeom>
            <a:avLst/>
            <a:gdLst/>
            <a:ahLst/>
            <a:cxnLst/>
            <a:rect l="l" t="t" r="r" b="b"/>
            <a:pathLst>
              <a:path w="2095500" h="1619250">
                <a:moveTo>
                  <a:pt x="0" y="1619250"/>
                </a:moveTo>
                <a:cubicBezTo>
                  <a:pt x="190500" y="666750"/>
                  <a:pt x="762000" y="190500"/>
                  <a:pt x="2095500" y="0"/>
                </a:cubicBezTo>
              </a:path>
            </a:pathLst>
          </a:custGeom>
          <a:ln w="28575">
            <a:solidFill>
              <a:srgbClr val="4AA8FF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pic>
        <p:nvPicPr>
          <p:cNvPr id="178" name="Imagen 177" descr="Software - Iconos gratis de computadora">
            <a:extLst>
              <a:ext uri="{FF2B5EF4-FFF2-40B4-BE49-F238E27FC236}">
                <a16:creationId xmlns:a16="http://schemas.microsoft.com/office/drawing/2014/main" id="{49D84EF7-E852-3C3B-7BE9-6C6F74F2F04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3073373" y="9754674"/>
            <a:ext cx="411776" cy="411776"/>
          </a:xfrm>
          <a:prstGeom prst="rect">
            <a:avLst/>
          </a:prstGeom>
        </p:spPr>
      </p:pic>
      <p:pic>
        <p:nvPicPr>
          <p:cNvPr id="179" name="Imagen 178" descr="Iterator">
            <a:extLst>
              <a:ext uri="{FF2B5EF4-FFF2-40B4-BE49-F238E27FC236}">
                <a16:creationId xmlns:a16="http://schemas.microsoft.com/office/drawing/2014/main" id="{0C827CF0-CF3F-33B1-1314-6F952BA02B3B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3034963" y="10159094"/>
            <a:ext cx="1224278" cy="765174"/>
          </a:xfrm>
          <a:prstGeom prst="rect">
            <a:avLst/>
          </a:prstGeom>
        </p:spPr>
      </p:pic>
      <p:pic>
        <p:nvPicPr>
          <p:cNvPr id="180" name="Imagen 179" descr="O Catálogo dos Padrões de Projeto">
            <a:extLst>
              <a:ext uri="{FF2B5EF4-FFF2-40B4-BE49-F238E27FC236}">
                <a16:creationId xmlns:a16="http://schemas.microsoft.com/office/drawing/2014/main" id="{BC1DA12E-1581-8E17-B337-2279BF9CF6F0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3279926" y="11226802"/>
            <a:ext cx="1054014" cy="752867"/>
          </a:xfrm>
          <a:prstGeom prst="rect">
            <a:avLst/>
          </a:prstGeom>
        </p:spPr>
      </p:pic>
      <p:pic>
        <p:nvPicPr>
          <p:cNvPr id="181" name="Imagen 180" descr="Template Method">
            <a:extLst>
              <a:ext uri="{FF2B5EF4-FFF2-40B4-BE49-F238E27FC236}">
                <a16:creationId xmlns:a16="http://schemas.microsoft.com/office/drawing/2014/main" id="{1E11E23B-BB0C-2D74-8AAF-609C8E896501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3142582" y="12541251"/>
            <a:ext cx="1116659" cy="6979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2013 - Tema de 2022">
  <a:themeElements>
    <a:clrScheme name="Office 2013 - Tema de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Tema de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90</TotalTime>
  <Words>968</Words>
  <Application>Microsoft Office PowerPoint</Application>
  <PresentationFormat>Personalizado</PresentationFormat>
  <Paragraphs>137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Tema de 2022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Arquitecturas de software y patrones de diseño</dc:title>
  <dc:subject>PptxGenJS Presentation</dc:subject>
  <dc:creator>PptxGenJS</dc:creator>
  <cp:lastModifiedBy>Gisel lorena mosquera fierro</cp:lastModifiedBy>
  <cp:revision>3</cp:revision>
  <dcterms:created xsi:type="dcterms:W3CDTF">2026-10-18T03:14:05Z</dcterms:created>
  <dcterms:modified xsi:type="dcterms:W3CDTF">2026-10-19T14:31:03Z</dcterms:modified>
</cp:coreProperties>
</file>